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10287000" cx="18288000"/>
  <p:notesSz cx="6858000" cy="9144000"/>
  <p:embeddedFontLst>
    <p:embeddedFont>
      <p:font typeface="Helvetica Neue"/>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HelveticaNeue-bold.fntdata"/><Relationship Id="rId14" Type="http://schemas.openxmlformats.org/officeDocument/2006/relationships/font" Target="fonts/HelveticaNeue-regular.fntdata"/><Relationship Id="rId17" Type="http://schemas.openxmlformats.org/officeDocument/2006/relationships/font" Target="fonts/HelveticaNeue-boldItalic.fntdata"/><Relationship Id="rId16" Type="http://schemas.openxmlformats.org/officeDocument/2006/relationships/font" Target="fonts/HelveticaNeue-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t>Alejandro </a:t>
            </a:r>
            <a:r>
              <a:rPr i="1" lang="en-US"/>
              <a:t>(~25 sec):</a:t>
            </a:r>
            <a:endParaRPr i="1"/>
          </a:p>
          <a:p>
            <a:pPr indent="0" lvl="0" marL="0" rtl="0" algn="l">
              <a:spcBef>
                <a:spcPts val="0"/>
              </a:spcBef>
              <a:spcAft>
                <a:spcPts val="0"/>
              </a:spcAft>
              <a:buNone/>
            </a:pPr>
            <a:r>
              <a:rPr lang="en-US"/>
              <a:t>Hi everyone — we’re Team 5, and we’re here to introduce GroceryPal: a mobile app that helps college students plan grocery trips that actually fit their budget. I’m Alejandro, joining me are Angelique, Helena, Peixin, and Yanbin. Over the next seven minutes we’ll show you how our understanding of this problem changed across the semester, and how that evolution shaped the design you’ll see at the end.</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t>Peixin </a:t>
            </a:r>
            <a:r>
              <a:rPr i="1" lang="en-US"/>
              <a:t>(~60 sec):</a:t>
            </a:r>
            <a:br>
              <a:rPr b="1" lang="en-US"/>
            </a:br>
            <a:r>
              <a:rPr lang="en-US"/>
              <a:t>Our project started with contextual inquiry. The five of us shadowed UW–Madison students through their actual grocery routines — at Kwik Trip, Trader Joe’s, Capital Centre Market, and online through the Target app. We sat with them as they checked their pantries, built lists on their phones, and made stop-by-stop decisions in the aisles. From these observations we learned something we didn’t expect: grocery shopping for students isn’t really one activity — it’s at least four, layered together. They’re simultaneously budgeting, planning transit, coordinating with roommates over text, and managing decision fatigue inside the store itself. One participant even routed herself between two stores on foot, deliberately, because the inconvenience kept her from impulse buying. That layering is what made the design challenge real — and it’s where every later decision started.</a:t>
            </a:r>
            <a:endParaRPr/>
          </a:p>
        </p:txBody>
      </p:sp>
      <p:sp>
        <p:nvSpPr>
          <p:cNvPr id="94" name="Google Shape;9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t>Angelique </a:t>
            </a:r>
            <a:r>
              <a:rPr i="1" lang="en-US"/>
              <a:t>(~60 sec):</a:t>
            </a:r>
            <a:br>
              <a:rPr lang="en-US"/>
            </a:br>
            <a:r>
              <a:rPr lang="en-US"/>
              <a:t>After our field work we built an affinity diagram together — clustering every observation into themes. Six themes surfaced: store frustrations, behavioral routines, demographic constraints like SNAP and transit, planning behaviors, the social context of roommates, and quality and brand preferences. Of those six, three patterns mattered most for the design we’d eventually build. The first surprised us: students don’t actually deal-hunt — they build routines. They pick the same stores, brands, and days, because routine reduces cognitive load even more than chasing the cheapest price does. The second was that roommates create hidden coordination overhead — duplicate purchases and food waste happen when communication breaks down. The third was that price comparison and store-routing isn’t optional — students are already doing this work in their heads, every week. From the affinity diagram we learned that our design’s job wasn’t to add features. It was to absorb the mental work students were already doing.</a:t>
            </a:r>
            <a:endParaRPr/>
          </a:p>
        </p:txBody>
      </p:sp>
      <p:sp>
        <p:nvSpPr>
          <p:cNvPr id="102" name="Google Shape;10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t>Helena</a:t>
            </a:r>
            <a:r>
              <a:rPr lang="en-US"/>
              <a:t> </a:t>
            </a:r>
            <a:r>
              <a:rPr i="1" lang="en-US"/>
              <a:t>(~50 sec):</a:t>
            </a:r>
            <a:br>
              <a:rPr lang="en-US"/>
            </a:br>
            <a:br>
              <a:rPr lang="en-US"/>
            </a:br>
            <a:r>
              <a:rPr lang="en-US"/>
              <a:t>Those insights gave us a single point-of-view statement: budget-constrained students need simple ways to plan efficient grocery trips without increasing cognitive effort or time. The tension in that sentence is what made it useful. Students want thoughtful, cost-conscious decisions — but the process of getting there is exhausting. So our problem wasn’t ‘help students save money.’ It was ‘help students save money without asking them to think harder.’ Every later design choice — from how we showed prices to how we labeled the bottom navigation — got tested against this lens: does it reduce mental effort, or does it just hide the effort somewhere new?</a:t>
            </a:r>
            <a:endParaRPr/>
          </a:p>
        </p:txBody>
      </p:sp>
      <p:sp>
        <p:nvSpPr>
          <p:cNvPr id="116" name="Google Shape;11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t>Yanbin</a:t>
            </a:r>
            <a:r>
              <a:rPr lang="en-US"/>
              <a:t> </a:t>
            </a:r>
            <a:r>
              <a:rPr i="1" lang="en-US"/>
              <a:t>(~70 sec):</a:t>
            </a:r>
            <a:br>
              <a:rPr lang="en-US"/>
            </a:br>
            <a:br>
              <a:rPr lang="en-US"/>
            </a:br>
            <a:r>
              <a:rPr lang="en-US"/>
              <a:t>With our problem framed, we ran a brainstorming session around a How-Might-We prompt: how might we simplify grocery shopping so students can quickly find affordable food, plan meals, and stay within budget. We generated dozens of ideas and grouped them into four themes — Price, Collaboration, Meal Planning, and Store Frustrations — then dot-voted three concepts worth developing further: a price-comparison tool, collaborative roommate lists, and a meal-planning assistant. Here’s where the project pivoted. When we each sketched one concept and ran a peer critique, we kept telling each other to combine features rather than pick one. The price tool needed roommate sharing; the meal planner needed pantry awareness; the collaboration tool needed budget tracking. So we made a deliberate choice: rather than picking one, we’d build the integrated version. From brainstorming and sketching we learned that the three concepts weren’t competing — they were three angles on the same underlying problem.</a:t>
            </a:r>
            <a:endParaRPr/>
          </a:p>
        </p:txBody>
      </p:sp>
      <p:sp>
        <p:nvSpPr>
          <p:cNvPr id="125" name="Google Shape;12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t>Alejandro</a:t>
            </a:r>
            <a:r>
              <a:rPr lang="en-US"/>
              <a:t> </a:t>
            </a:r>
            <a:r>
              <a:rPr i="1" lang="en-US"/>
              <a:t>(~65 sec):</a:t>
            </a:r>
            <a:br>
              <a:rPr lang="en-US"/>
            </a:br>
            <a:br>
              <a:rPr lang="en-US"/>
            </a:br>
            <a:r>
              <a:rPr lang="en-US"/>
              <a:t>The integrated design went through many stages. We started with hand-drawn sketches that put meal planning, price comparison, and budget tracking onto a single screen — that consolidation directly attacked the cognitive-load problem we’d identified. From there, we built storyboards and a low-fidelity paper prototype, which we tested with one student. The test showed that the meal-selection flow worked but the generate-list step caused hesitation — both findings carried forward. In the wireframes we locked in a four-item bottom navigation — Home, Lists, Dashboard, Groups — using the information-architecture principles from class: consistent labels, predictable hierarchy, and the same nav grid on every screen so users don’t have to relearn the interface. In the hi-fi mockup we applied visual-design principles directly: contrast pulls the eye to the budget bar and the savings call-out, list patterns stay consistent across screens, and a single accent color signals positive financial outcomes — savings and in-budget status. </a:t>
            </a:r>
            <a:endParaRPr/>
          </a:p>
        </p:txBody>
      </p:sp>
      <p:sp>
        <p:nvSpPr>
          <p:cNvPr id="138" name="Google Shape;13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t>Helena</a:t>
            </a:r>
            <a:r>
              <a:rPr lang="en-US"/>
              <a:t> </a:t>
            </a:r>
            <a:r>
              <a:rPr i="1" lang="en-US"/>
              <a:t>(~50 sec):</a:t>
            </a:r>
            <a:br>
              <a:rPr lang="en-US"/>
            </a:br>
            <a:br>
              <a:rPr lang="en-US"/>
            </a:br>
            <a:r>
              <a:rPr lang="en-US"/>
              <a:t>Here’s where we landed. GroceryPal pulls everything we identified into one app: a grocery list that auto-groups items by store, a budget dashboard that keeps the full total visible against your monthly budget at every step, a multi-stop route that hands you the cheapest store split with no manual comparison, a meal planner that builds the grocery list from your weekly plan, recipe import that drops ingredients straight into the optimized list, and roommate coordination that prevents the double-buys and miscommunication we saw in the field. This solves the problem directly: GroceryPal absorbs the comparison, routing, coordination, and budgeting work students were already doing in their heads — they get the financial benefit without the cognitive cost.</a:t>
            </a:r>
            <a:endParaRPr/>
          </a:p>
        </p:txBody>
      </p:sp>
      <p:sp>
        <p:nvSpPr>
          <p:cNvPr id="162" name="Google Shape;16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t>Helena:</a:t>
            </a:r>
            <a:endParaRPr b="1"/>
          </a:p>
          <a:p>
            <a:pPr indent="0" lvl="0" marL="0" rtl="0" algn="l">
              <a:spcBef>
                <a:spcPts val="0"/>
              </a:spcBef>
              <a:spcAft>
                <a:spcPts val="0"/>
              </a:spcAft>
              <a:buNone/>
            </a:pPr>
            <a:r>
              <a:rPr lang="en-US"/>
              <a:t>And here’s our interactive prototype — scan the QR code or click the link, and you can complete the demo task: import a recipe and finish an optimized two-store trip while staying inside your monthly budget.</a:t>
            </a:r>
            <a:br>
              <a:rPr lang="en-US"/>
            </a:br>
            <a:r>
              <a:rPr lang="en-US"/>
              <a:t>*</a:t>
            </a:r>
            <a:r>
              <a:rPr i="1" lang="en-US"/>
              <a:t>[handoff to Angelique]*</a:t>
            </a:r>
            <a:endParaRPr i="1"/>
          </a:p>
          <a:p>
            <a:pPr indent="0" lvl="0" marL="0" rtl="0" algn="l">
              <a:spcBef>
                <a:spcPts val="0"/>
              </a:spcBef>
              <a:spcAft>
                <a:spcPts val="0"/>
              </a:spcAft>
              <a:buNone/>
            </a:pPr>
            <a:br>
              <a:rPr lang="en-US"/>
            </a:br>
            <a:r>
              <a:rPr b="1" lang="en-US"/>
              <a:t>Angelique</a:t>
            </a:r>
            <a:r>
              <a:rPr lang="en-US"/>
              <a:t> </a:t>
            </a:r>
            <a:r>
              <a:rPr i="1" lang="en-US"/>
              <a:t>(~35 sec):</a:t>
            </a:r>
            <a:endParaRPr i="1"/>
          </a:p>
          <a:p>
            <a:pPr indent="0" lvl="0" marL="0" rtl="0" algn="l">
              <a:spcBef>
                <a:spcPts val="0"/>
              </a:spcBef>
              <a:spcAft>
                <a:spcPts val="0"/>
              </a:spcAft>
              <a:buNone/>
            </a:pPr>
            <a:r>
              <a:rPr lang="en-US"/>
              <a:t>With more time, three next steps. First, usability testing with SNAP-eligible students and students who rely on transit, so the routing feature reflects real constraints — not just optimal pricing. Second, pantry-aware recommendations so the app remembers what you already have at home. And third, integrating a real-time price API so the comparisons stay accurate. Thanks for listening.</a:t>
            </a:r>
            <a:endParaRPr/>
          </a:p>
        </p:txBody>
      </p:sp>
      <p:sp>
        <p:nvSpPr>
          <p:cNvPr id="191" name="Google Shape;19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12.png"/><Relationship Id="rId5" Type="http://schemas.openxmlformats.org/officeDocument/2006/relationships/image" Target="../media/image16.png"/><Relationship Id="rId6" Type="http://schemas.openxmlformats.org/officeDocument/2006/relationships/image" Target="../media/image6.png"/><Relationship Id="rId7"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www.figma.com/proto/SzANPULQzrM4FbtyiR51lo/LIS-470_Final-Design?node-id=2036-708&amp;p=f&amp;t=c6bXOoEXaA1EcsMA-1&amp;scaling=scale-down&amp;content-scaling=fixed&amp;page-id=2036%3A707&amp;starting-point-node-id=2036%3A708&amp;show-proto-sidebar=1" TargetMode="Externa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7"/>
        </a:solidFill>
      </p:bgPr>
    </p:bg>
    <p:spTree>
      <p:nvGrpSpPr>
        <p:cNvPr id="83" name="Shape 83"/>
        <p:cNvGrpSpPr/>
        <p:nvPr/>
      </p:nvGrpSpPr>
      <p:grpSpPr>
        <a:xfrm>
          <a:off x="0" y="0"/>
          <a:ext cx="0" cy="0"/>
          <a:chOff x="0" y="0"/>
          <a:chExt cx="0" cy="0"/>
        </a:xfrm>
      </p:grpSpPr>
      <p:grpSp>
        <p:nvGrpSpPr>
          <p:cNvPr id="84" name="Google Shape;84;p13"/>
          <p:cNvGrpSpPr/>
          <p:nvPr/>
        </p:nvGrpSpPr>
        <p:grpSpPr>
          <a:xfrm rot="7458190">
            <a:off x="11130270" y="-4636043"/>
            <a:ext cx="13610886" cy="9882841"/>
            <a:chOff x="0" y="-171450"/>
            <a:chExt cx="1476351" cy="1071976"/>
          </a:xfrm>
        </p:grpSpPr>
        <p:sp>
          <p:nvSpPr>
            <p:cNvPr id="85" name="Google Shape;85;p13"/>
            <p:cNvSpPr/>
            <p:nvPr/>
          </p:nvSpPr>
          <p:spPr>
            <a:xfrm>
              <a:off x="0" y="0"/>
              <a:ext cx="1476351" cy="900526"/>
            </a:xfrm>
            <a:custGeom>
              <a:rect b="b" l="l" r="r" t="t"/>
              <a:pathLst>
                <a:path extrusionOk="0" h="900526" w="1476351">
                  <a:moveTo>
                    <a:pt x="0" y="0"/>
                  </a:moveTo>
                  <a:lnTo>
                    <a:pt x="1476351" y="0"/>
                  </a:lnTo>
                  <a:lnTo>
                    <a:pt x="1476351" y="900526"/>
                  </a:lnTo>
                  <a:lnTo>
                    <a:pt x="0" y="900526"/>
                  </a:lnTo>
                  <a:close/>
                </a:path>
              </a:pathLst>
            </a:custGeom>
            <a:solidFill>
              <a:srgbClr val="2A3F54"/>
            </a:solidFill>
            <a:ln>
              <a:noFill/>
            </a:ln>
          </p:spPr>
        </p:sp>
        <p:sp>
          <p:nvSpPr>
            <p:cNvPr id="86" name="Google Shape;86;p13"/>
            <p:cNvSpPr txBox="1"/>
            <p:nvPr/>
          </p:nvSpPr>
          <p:spPr>
            <a:xfrm>
              <a:off x="0" y="-171450"/>
              <a:ext cx="1476351" cy="1071976"/>
            </a:xfrm>
            <a:prstGeom prst="rect">
              <a:avLst/>
            </a:prstGeom>
            <a:noFill/>
            <a:ln>
              <a:noFill/>
            </a:ln>
          </p:spPr>
          <p:txBody>
            <a:bodyPr anchorCtr="0" anchor="ctr" bIns="123325" lIns="123325" spcFirstLastPara="1" rIns="123325" wrap="square" tIns="123325">
              <a:noAutofit/>
            </a:bodyPr>
            <a:lstStyle/>
            <a:p>
              <a:pPr indent="0" lvl="0" marL="0" marR="0" rtl="0" algn="ctr">
                <a:lnSpc>
                  <a:spcPct val="62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7" name="Google Shape;87;p13"/>
          <p:cNvSpPr/>
          <p:nvPr/>
        </p:nvSpPr>
        <p:spPr>
          <a:xfrm rot="5400000">
            <a:off x="9296384" y="1330629"/>
            <a:ext cx="8302229" cy="8302195"/>
          </a:xfrm>
          <a:custGeom>
            <a:rect b="b" l="l" r="r" t="t"/>
            <a:pathLst>
              <a:path extrusionOk="0"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solidFill>
            <a:srgbClr val="2A3F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3"/>
          <p:cNvSpPr/>
          <p:nvPr/>
        </p:nvSpPr>
        <p:spPr>
          <a:xfrm>
            <a:off x="10004210" y="2038438"/>
            <a:ext cx="6886575" cy="6886575"/>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3">
              <a:alphaModFix/>
            </a:blip>
            <a:stretch>
              <a:fillRect b="-100289" l="-2945" r="0" t="-23505"/>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9" name="Google Shape;89;p13"/>
          <p:cNvGrpSpPr/>
          <p:nvPr/>
        </p:nvGrpSpPr>
        <p:grpSpPr>
          <a:xfrm>
            <a:off x="666750" y="1531937"/>
            <a:ext cx="8324850" cy="8088313"/>
            <a:chOff x="0" y="95250"/>
            <a:chExt cx="11099800" cy="10784417"/>
          </a:xfrm>
        </p:grpSpPr>
        <p:sp>
          <p:nvSpPr>
            <p:cNvPr id="90" name="Google Shape;90;p13"/>
            <p:cNvSpPr txBox="1"/>
            <p:nvPr/>
          </p:nvSpPr>
          <p:spPr>
            <a:xfrm>
              <a:off x="0" y="95250"/>
              <a:ext cx="11099800" cy="895731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9600" u="none" cap="none" strike="noStrike">
                  <a:solidFill>
                    <a:srgbClr val="192F4D"/>
                  </a:solidFill>
                  <a:latin typeface="Arial"/>
                  <a:ea typeface="Arial"/>
                  <a:cs typeface="Arial"/>
                  <a:sym typeface="Arial"/>
                </a:rPr>
                <a:t>GroceryPal: Helping Students Shop Smarter</a:t>
              </a:r>
              <a:endParaRPr/>
            </a:p>
          </p:txBody>
        </p:sp>
        <p:sp>
          <p:nvSpPr>
            <p:cNvPr id="91" name="Google Shape;91;p13"/>
            <p:cNvSpPr txBox="1"/>
            <p:nvPr/>
          </p:nvSpPr>
          <p:spPr>
            <a:xfrm>
              <a:off x="0" y="9320107"/>
              <a:ext cx="9588500" cy="155956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2400" u="none" cap="none" strike="noStrike">
                  <a:solidFill>
                    <a:srgbClr val="2A3F54"/>
                  </a:solidFill>
                  <a:latin typeface="Helvetica Neue"/>
                  <a:ea typeface="Helvetica Neue"/>
                  <a:cs typeface="Helvetica Neue"/>
                  <a:sym typeface="Helvetica Neue"/>
                </a:rPr>
                <a:t>Team 5 — Alejandro De La Torre, Angelique Carrillo, Helena Huang, Peixin Yang, Yanbin Chen, LIS 470 · Spring 2026</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7"/>
        </a:solidFill>
      </p:bgPr>
    </p:bg>
    <p:spTree>
      <p:nvGrpSpPr>
        <p:cNvPr id="95" name="Shape 95"/>
        <p:cNvGrpSpPr/>
        <p:nvPr/>
      </p:nvGrpSpPr>
      <p:grpSpPr>
        <a:xfrm>
          <a:off x="0" y="0"/>
          <a:ext cx="0" cy="0"/>
          <a:chOff x="0" y="0"/>
          <a:chExt cx="0" cy="0"/>
        </a:xfrm>
      </p:grpSpPr>
      <p:grpSp>
        <p:nvGrpSpPr>
          <p:cNvPr id="96" name="Google Shape;96;p14"/>
          <p:cNvGrpSpPr/>
          <p:nvPr/>
        </p:nvGrpSpPr>
        <p:grpSpPr>
          <a:xfrm>
            <a:off x="688386" y="608450"/>
            <a:ext cx="16996208" cy="6923350"/>
            <a:chOff x="0" y="66675"/>
            <a:chExt cx="10443138" cy="9231133"/>
          </a:xfrm>
        </p:grpSpPr>
        <p:sp>
          <p:nvSpPr>
            <p:cNvPr id="97" name="Google Shape;97;p14"/>
            <p:cNvSpPr txBox="1"/>
            <p:nvPr/>
          </p:nvSpPr>
          <p:spPr>
            <a:xfrm>
              <a:off x="0" y="66675"/>
              <a:ext cx="9588600" cy="1481700"/>
            </a:xfrm>
            <a:prstGeom prst="rect">
              <a:avLst/>
            </a:prstGeom>
            <a:noFill/>
            <a:ln>
              <a:noFill/>
            </a:ln>
          </p:spPr>
          <p:txBody>
            <a:bodyPr anchorCtr="0" anchor="t" bIns="0" lIns="0" spcFirstLastPara="1" rIns="0" wrap="square" tIns="0">
              <a:spAutoFit/>
            </a:bodyPr>
            <a:lstStyle/>
            <a:p>
              <a:pPr indent="0" lvl="0" marL="0" marR="0" rtl="0" algn="l">
                <a:lnSpc>
                  <a:spcPct val="110001"/>
                </a:lnSpc>
                <a:spcBef>
                  <a:spcPts val="0"/>
                </a:spcBef>
                <a:spcAft>
                  <a:spcPts val="0"/>
                </a:spcAft>
                <a:buNone/>
              </a:pPr>
              <a:r>
                <a:rPr b="1" i="0" lang="en-US" sz="7219" u="none" cap="none" strike="noStrike">
                  <a:solidFill>
                    <a:srgbClr val="192F4D"/>
                  </a:solidFill>
                  <a:latin typeface="Arial"/>
                  <a:ea typeface="Arial"/>
                  <a:cs typeface="Arial"/>
                  <a:sym typeface="Arial"/>
                </a:rPr>
                <a:t>Four Activities, One Trip</a:t>
              </a:r>
              <a:endParaRPr/>
            </a:p>
          </p:txBody>
        </p:sp>
        <p:sp>
          <p:nvSpPr>
            <p:cNvPr id="98" name="Google Shape;98;p14"/>
            <p:cNvSpPr txBox="1"/>
            <p:nvPr/>
          </p:nvSpPr>
          <p:spPr>
            <a:xfrm>
              <a:off x="6440838" y="3170908"/>
              <a:ext cx="4002300" cy="6126900"/>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0" i="0" lang="en-US" sz="2764" u="none" cap="none" strike="noStrike">
                  <a:solidFill>
                    <a:srgbClr val="2A3F54"/>
                  </a:solidFill>
                  <a:latin typeface="Helvetica Neue"/>
                  <a:ea typeface="Helvetica Neue"/>
                  <a:cs typeface="Helvetica Neue"/>
                  <a:sym typeface="Helvetica Neue"/>
                </a:rPr>
                <a:t>Students aren't just shopping. They're </a:t>
              </a:r>
              <a:r>
                <a:rPr b="1" i="1" lang="en-US" sz="2764" u="none" cap="none" strike="noStrike">
                  <a:solidFill>
                    <a:srgbClr val="2A3F54"/>
                  </a:solidFill>
                  <a:latin typeface="Helvetica Neue"/>
                  <a:ea typeface="Helvetica Neue"/>
                  <a:cs typeface="Helvetica Neue"/>
                  <a:sym typeface="Helvetica Neue"/>
                </a:rPr>
                <a:t>budgeting</a:t>
              </a:r>
              <a:r>
                <a:rPr b="0" i="0" lang="en-US" sz="2764" u="none" cap="none" strike="noStrike">
                  <a:solidFill>
                    <a:srgbClr val="2A3F54"/>
                  </a:solidFill>
                  <a:latin typeface="Helvetica Neue"/>
                  <a:ea typeface="Helvetica Neue"/>
                  <a:cs typeface="Helvetica Neue"/>
                  <a:sym typeface="Helvetica Neue"/>
                </a:rPr>
                <a:t>, </a:t>
              </a:r>
              <a:r>
                <a:rPr b="1" i="1" lang="en-US" sz="2764" u="none" cap="none" strike="noStrike">
                  <a:solidFill>
                    <a:srgbClr val="2A3F54"/>
                  </a:solidFill>
                  <a:latin typeface="Helvetica Neue"/>
                  <a:ea typeface="Helvetica Neue"/>
                  <a:cs typeface="Helvetica Neue"/>
                  <a:sym typeface="Helvetica Neue"/>
                </a:rPr>
                <a:t>planning transit</a:t>
              </a:r>
              <a:r>
                <a:rPr b="0" i="0" lang="en-US" sz="2764" u="none" cap="none" strike="noStrike">
                  <a:solidFill>
                    <a:srgbClr val="2A3F54"/>
                  </a:solidFill>
                  <a:latin typeface="Helvetica Neue"/>
                  <a:ea typeface="Helvetica Neue"/>
                  <a:cs typeface="Helvetica Neue"/>
                  <a:sym typeface="Helvetica Neue"/>
                </a:rPr>
                <a:t>, </a:t>
              </a:r>
              <a:r>
                <a:rPr b="1" i="1" lang="en-US" sz="2764" u="none" cap="none" strike="noStrike">
                  <a:solidFill>
                    <a:srgbClr val="2A3F54"/>
                  </a:solidFill>
                  <a:latin typeface="Helvetica Neue"/>
                  <a:ea typeface="Helvetica Neue"/>
                  <a:cs typeface="Helvetica Neue"/>
                  <a:sym typeface="Helvetica Neue"/>
                </a:rPr>
                <a:t>coordinating with roommates</a:t>
              </a:r>
              <a:r>
                <a:rPr b="0" i="0" lang="en-US" sz="2764" u="none" cap="none" strike="noStrike">
                  <a:solidFill>
                    <a:srgbClr val="2A3F54"/>
                  </a:solidFill>
                  <a:latin typeface="Helvetica Neue"/>
                  <a:ea typeface="Helvetica Neue"/>
                  <a:cs typeface="Helvetica Neue"/>
                  <a:sym typeface="Helvetica Neue"/>
                </a:rPr>
                <a:t>, and </a:t>
              </a:r>
              <a:r>
                <a:rPr b="1" i="1" lang="en-US" sz="2764" u="none" cap="none" strike="noStrike">
                  <a:solidFill>
                    <a:srgbClr val="2A3F54"/>
                  </a:solidFill>
                  <a:latin typeface="Helvetica Neue"/>
                  <a:ea typeface="Helvetica Neue"/>
                  <a:cs typeface="Helvetica Neue"/>
                  <a:sym typeface="Helvetica Neue"/>
                </a:rPr>
                <a:t>managing decision fatigue</a:t>
              </a:r>
              <a:r>
                <a:rPr b="0" i="0" lang="en-US" sz="2764" u="none" cap="none" strike="noStrike">
                  <a:solidFill>
                    <a:srgbClr val="2A3F54"/>
                  </a:solidFill>
                  <a:latin typeface="Helvetica Neue"/>
                  <a:ea typeface="Helvetica Neue"/>
                  <a:cs typeface="Helvetica Neue"/>
                  <a:sym typeface="Helvetica Neue"/>
                </a:rPr>
                <a:t> — all at once. One participant routed herself between two stores on foot specifically because the inconvenience kept her from impulse buying.</a:t>
              </a:r>
              <a:endParaRPr/>
            </a:p>
          </p:txBody>
        </p:sp>
      </p:grpSp>
      <p:pic>
        <p:nvPicPr>
          <p:cNvPr id="99" name="Google Shape;99;p14" title="a4_g5_affinity-diagram-1.png"/>
          <p:cNvPicPr preferRelativeResize="0"/>
          <p:nvPr/>
        </p:nvPicPr>
        <p:blipFill>
          <a:blip r:embed="rId3">
            <a:alphaModFix/>
          </a:blip>
          <a:stretch>
            <a:fillRect/>
          </a:stretch>
        </p:blipFill>
        <p:spPr>
          <a:xfrm>
            <a:off x="665300" y="2252750"/>
            <a:ext cx="9952824" cy="59629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7"/>
        </a:solidFill>
      </p:bgPr>
    </p:bg>
    <p:spTree>
      <p:nvGrpSpPr>
        <p:cNvPr id="103" name="Shape 103"/>
        <p:cNvGrpSpPr/>
        <p:nvPr/>
      </p:nvGrpSpPr>
      <p:grpSpPr>
        <a:xfrm>
          <a:off x="0" y="0"/>
          <a:ext cx="0" cy="0"/>
          <a:chOff x="0" y="0"/>
          <a:chExt cx="0" cy="0"/>
        </a:xfrm>
      </p:grpSpPr>
      <p:sp>
        <p:nvSpPr>
          <p:cNvPr id="104" name="Google Shape;104;p15"/>
          <p:cNvSpPr txBox="1"/>
          <p:nvPr/>
        </p:nvSpPr>
        <p:spPr>
          <a:xfrm>
            <a:off x="666750" y="742950"/>
            <a:ext cx="11506200" cy="2134870"/>
          </a:xfrm>
          <a:prstGeom prst="rect">
            <a:avLst/>
          </a:prstGeom>
          <a:noFill/>
          <a:ln>
            <a:noFill/>
          </a:ln>
        </p:spPr>
        <p:txBody>
          <a:bodyPr anchorCtr="0" anchor="t" bIns="0" lIns="0" spcFirstLastPara="1" rIns="0" wrap="square" tIns="0">
            <a:spAutoFit/>
          </a:bodyPr>
          <a:lstStyle/>
          <a:p>
            <a:pPr indent="0" lvl="0" marL="0" marR="0" rtl="0" algn="l">
              <a:lnSpc>
                <a:spcPct val="110001"/>
              </a:lnSpc>
              <a:spcBef>
                <a:spcPts val="0"/>
              </a:spcBef>
              <a:spcAft>
                <a:spcPts val="0"/>
              </a:spcAft>
              <a:buNone/>
            </a:pPr>
            <a:r>
              <a:rPr b="1" i="0" lang="en-US" sz="7599" u="none" cap="none" strike="noStrike">
                <a:solidFill>
                  <a:srgbClr val="192F4D"/>
                </a:solidFill>
                <a:latin typeface="Arial"/>
                <a:ea typeface="Arial"/>
                <a:cs typeface="Arial"/>
                <a:sym typeface="Arial"/>
              </a:rPr>
              <a:t>Six Themes, Three We Built Around</a:t>
            </a:r>
            <a:endParaRPr/>
          </a:p>
        </p:txBody>
      </p:sp>
      <p:grpSp>
        <p:nvGrpSpPr>
          <p:cNvPr id="105" name="Google Shape;105;p15"/>
          <p:cNvGrpSpPr/>
          <p:nvPr/>
        </p:nvGrpSpPr>
        <p:grpSpPr>
          <a:xfrm>
            <a:off x="666750" y="4198144"/>
            <a:ext cx="4010025" cy="3607752"/>
            <a:chOff x="0" y="-66675"/>
            <a:chExt cx="5346700" cy="4810337"/>
          </a:xfrm>
        </p:grpSpPr>
        <p:sp>
          <p:nvSpPr>
            <p:cNvPr id="106" name="Google Shape;106;p15"/>
            <p:cNvSpPr txBox="1"/>
            <p:nvPr/>
          </p:nvSpPr>
          <p:spPr>
            <a:xfrm>
              <a:off x="0" y="-66675"/>
              <a:ext cx="5346700" cy="683049"/>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1" i="0" lang="en-US" sz="2799" u="none" cap="none" strike="noStrike">
                  <a:solidFill>
                    <a:srgbClr val="192F4D"/>
                  </a:solidFill>
                  <a:latin typeface="Helvetica Neue"/>
                  <a:ea typeface="Helvetica Neue"/>
                  <a:cs typeface="Helvetica Neue"/>
                  <a:sym typeface="Helvetica Neue"/>
                </a:rPr>
                <a:t>Behavioral Routines</a:t>
              </a:r>
              <a:endParaRPr/>
            </a:p>
          </p:txBody>
        </p:sp>
        <p:sp>
          <p:nvSpPr>
            <p:cNvPr id="107" name="Google Shape;107;p15"/>
            <p:cNvSpPr txBox="1"/>
            <p:nvPr/>
          </p:nvSpPr>
          <p:spPr>
            <a:xfrm>
              <a:off x="0" y="809413"/>
              <a:ext cx="5346700" cy="3934249"/>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0" i="0" lang="en-US" sz="2799" u="none" cap="none" strike="noStrike">
                  <a:solidFill>
                    <a:srgbClr val="2A3F54"/>
                  </a:solidFill>
                  <a:latin typeface="Helvetica Neue"/>
                  <a:ea typeface="Helvetica Neue"/>
                  <a:cs typeface="Helvetica Neue"/>
                  <a:sym typeface="Helvetica Neue"/>
                </a:rPr>
                <a:t>Routine reduces stress more than deal-hunting. Students pick the same stores and brands every week to lower the cognitive cost.</a:t>
              </a:r>
              <a:endParaRPr/>
            </a:p>
          </p:txBody>
        </p:sp>
      </p:grpSp>
      <p:grpSp>
        <p:nvGrpSpPr>
          <p:cNvPr id="108" name="Google Shape;108;p15"/>
          <p:cNvGrpSpPr/>
          <p:nvPr/>
        </p:nvGrpSpPr>
        <p:grpSpPr>
          <a:xfrm>
            <a:off x="6419850" y="4198144"/>
            <a:ext cx="4010025" cy="4103052"/>
            <a:chOff x="0" y="-66675"/>
            <a:chExt cx="5346700" cy="5470737"/>
          </a:xfrm>
        </p:grpSpPr>
        <p:sp>
          <p:nvSpPr>
            <p:cNvPr id="109" name="Google Shape;109;p15"/>
            <p:cNvSpPr txBox="1"/>
            <p:nvPr/>
          </p:nvSpPr>
          <p:spPr>
            <a:xfrm>
              <a:off x="0" y="-66675"/>
              <a:ext cx="5346700" cy="683049"/>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1" i="0" lang="en-US" sz="2799" u="none" cap="none" strike="noStrike">
                  <a:solidFill>
                    <a:srgbClr val="192F4D"/>
                  </a:solidFill>
                  <a:latin typeface="Helvetica Neue"/>
                  <a:ea typeface="Helvetica Neue"/>
                  <a:cs typeface="Helvetica Neue"/>
                  <a:sym typeface="Helvetica Neue"/>
                </a:rPr>
                <a:t>Coordination Overhead</a:t>
              </a:r>
              <a:endParaRPr/>
            </a:p>
          </p:txBody>
        </p:sp>
        <p:sp>
          <p:nvSpPr>
            <p:cNvPr id="110" name="Google Shape;110;p15"/>
            <p:cNvSpPr txBox="1"/>
            <p:nvPr/>
          </p:nvSpPr>
          <p:spPr>
            <a:xfrm>
              <a:off x="0" y="809413"/>
              <a:ext cx="5346700" cy="4594649"/>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0" i="0" lang="en-US" sz="2799" u="none" cap="none" strike="noStrike">
                  <a:solidFill>
                    <a:srgbClr val="2A3F54"/>
                  </a:solidFill>
                  <a:latin typeface="Helvetica Neue"/>
                  <a:ea typeface="Helvetica Neue"/>
                  <a:cs typeface="Helvetica Neue"/>
                  <a:sym typeface="Helvetica Neue"/>
                </a:rPr>
                <a:t>Duplicate buys and food waste happen when roommates can't see each other's lists. The breakdown is communication, not effort.</a:t>
              </a:r>
              <a:endParaRPr/>
            </a:p>
          </p:txBody>
        </p:sp>
      </p:grpSp>
      <p:grpSp>
        <p:nvGrpSpPr>
          <p:cNvPr id="111" name="Google Shape;111;p15"/>
          <p:cNvGrpSpPr/>
          <p:nvPr/>
        </p:nvGrpSpPr>
        <p:grpSpPr>
          <a:xfrm>
            <a:off x="12172950" y="4198144"/>
            <a:ext cx="4010025" cy="3112452"/>
            <a:chOff x="0" y="-66675"/>
            <a:chExt cx="5346700" cy="4149937"/>
          </a:xfrm>
        </p:grpSpPr>
        <p:sp>
          <p:nvSpPr>
            <p:cNvPr id="112" name="Google Shape;112;p15"/>
            <p:cNvSpPr txBox="1"/>
            <p:nvPr/>
          </p:nvSpPr>
          <p:spPr>
            <a:xfrm>
              <a:off x="0" y="-66675"/>
              <a:ext cx="5346700" cy="683049"/>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1" i="0" lang="en-US" sz="2799" u="none" cap="none" strike="noStrike">
                  <a:solidFill>
                    <a:srgbClr val="192F4D"/>
                  </a:solidFill>
                  <a:latin typeface="Helvetica Neue"/>
                  <a:ea typeface="Helvetica Neue"/>
                  <a:cs typeface="Helvetica Neue"/>
                  <a:sym typeface="Helvetica Neue"/>
                </a:rPr>
                <a:t>Store Frustrations</a:t>
              </a:r>
              <a:endParaRPr/>
            </a:p>
          </p:txBody>
        </p:sp>
        <p:sp>
          <p:nvSpPr>
            <p:cNvPr id="113" name="Google Shape;113;p15"/>
            <p:cNvSpPr txBox="1"/>
            <p:nvPr/>
          </p:nvSpPr>
          <p:spPr>
            <a:xfrm>
              <a:off x="0" y="809413"/>
              <a:ext cx="5346700" cy="3273849"/>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0" i="0" lang="en-US" sz="2799" u="none" cap="none" strike="noStrike">
                  <a:solidFill>
                    <a:srgbClr val="2A3F54"/>
                  </a:solidFill>
                  <a:latin typeface="Helvetica Neue"/>
                  <a:ea typeface="Helvetica Neue"/>
                  <a:cs typeface="Helvetica Neue"/>
                  <a:sym typeface="Helvetica Neue"/>
                </a:rPr>
                <a:t>Students already route between stores for the cheapest split. We don't need to teach this — we need to absorb it.</a:t>
              </a:r>
              <a:endParaRPr/>
            </a:p>
          </p:txBody>
        </p:sp>
      </p:gr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7"/>
        </a:solidFill>
      </p:bgPr>
    </p:bg>
    <p:spTree>
      <p:nvGrpSpPr>
        <p:cNvPr id="117" name="Shape 117"/>
        <p:cNvGrpSpPr/>
        <p:nvPr/>
      </p:nvGrpSpPr>
      <p:grpSpPr>
        <a:xfrm>
          <a:off x="0" y="0"/>
          <a:ext cx="0" cy="0"/>
          <a:chOff x="0" y="0"/>
          <a:chExt cx="0" cy="0"/>
        </a:xfrm>
      </p:grpSpPr>
      <p:grpSp>
        <p:nvGrpSpPr>
          <p:cNvPr id="118" name="Google Shape;118;p16"/>
          <p:cNvGrpSpPr/>
          <p:nvPr/>
        </p:nvGrpSpPr>
        <p:grpSpPr>
          <a:xfrm>
            <a:off x="666750" y="723900"/>
            <a:ext cx="6886575" cy="4901247"/>
            <a:chOff x="0" y="76200"/>
            <a:chExt cx="9182100" cy="6534995"/>
          </a:xfrm>
        </p:grpSpPr>
        <p:sp>
          <p:nvSpPr>
            <p:cNvPr id="119" name="Google Shape;119;p16"/>
            <p:cNvSpPr txBox="1"/>
            <p:nvPr/>
          </p:nvSpPr>
          <p:spPr>
            <a:xfrm>
              <a:off x="0" y="76200"/>
              <a:ext cx="8596926" cy="1462193"/>
            </a:xfrm>
            <a:prstGeom prst="rect">
              <a:avLst/>
            </a:prstGeom>
            <a:noFill/>
            <a:ln>
              <a:noFill/>
            </a:ln>
          </p:spPr>
          <p:txBody>
            <a:bodyPr anchorCtr="0" anchor="t" bIns="0" lIns="0" spcFirstLastPara="1" rIns="0" wrap="square" tIns="0">
              <a:spAutoFit/>
            </a:bodyPr>
            <a:lstStyle/>
            <a:p>
              <a:pPr indent="0" lvl="0" marL="0" marR="0" rtl="0" algn="l">
                <a:lnSpc>
                  <a:spcPct val="110001"/>
                </a:lnSpc>
                <a:spcBef>
                  <a:spcPts val="0"/>
                </a:spcBef>
                <a:spcAft>
                  <a:spcPts val="0"/>
                </a:spcAft>
                <a:buNone/>
              </a:pPr>
              <a:r>
                <a:rPr b="1" i="0" lang="en-US" sz="7599" u="none" cap="none" strike="noStrike">
                  <a:solidFill>
                    <a:srgbClr val="192F4D"/>
                  </a:solidFill>
                  <a:latin typeface="Arial"/>
                  <a:ea typeface="Arial"/>
                  <a:cs typeface="Arial"/>
                  <a:sym typeface="Arial"/>
                </a:rPr>
                <a:t>The Problem</a:t>
              </a:r>
              <a:endParaRPr/>
            </a:p>
          </p:txBody>
        </p:sp>
        <p:sp>
          <p:nvSpPr>
            <p:cNvPr id="120" name="Google Shape;120;p16"/>
            <p:cNvSpPr txBox="1"/>
            <p:nvPr/>
          </p:nvSpPr>
          <p:spPr>
            <a:xfrm>
              <a:off x="0" y="2320925"/>
              <a:ext cx="9182100" cy="683049"/>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1" i="0" lang="en-US" sz="2799" u="none" cap="none" strike="noStrike">
                  <a:solidFill>
                    <a:srgbClr val="192F4D"/>
                  </a:solidFill>
                  <a:latin typeface="Helvetica Neue"/>
                  <a:ea typeface="Helvetica Neue"/>
                  <a:cs typeface="Helvetica Neue"/>
                  <a:sym typeface="Helvetica Neue"/>
                </a:rPr>
                <a:t>Point of View</a:t>
              </a:r>
              <a:endParaRPr/>
            </a:p>
          </p:txBody>
        </p:sp>
        <p:sp>
          <p:nvSpPr>
            <p:cNvPr id="121" name="Google Shape;121;p16"/>
            <p:cNvSpPr txBox="1"/>
            <p:nvPr/>
          </p:nvSpPr>
          <p:spPr>
            <a:xfrm>
              <a:off x="0" y="3187488"/>
              <a:ext cx="9182100" cy="3423707"/>
            </a:xfrm>
            <a:prstGeom prst="rect">
              <a:avLst/>
            </a:prstGeom>
            <a:noFill/>
            <a:ln>
              <a:noFill/>
            </a:ln>
          </p:spPr>
          <p:txBody>
            <a:bodyPr anchorCtr="0" anchor="t" bIns="0" lIns="0" spcFirstLastPara="1" rIns="0" wrap="square" tIns="0">
              <a:spAutoFit/>
            </a:bodyPr>
            <a:lstStyle/>
            <a:p>
              <a:pPr indent="0" lvl="0" marL="0" marR="0" rtl="0" algn="l">
                <a:lnSpc>
                  <a:spcPct val="139983"/>
                </a:lnSpc>
                <a:spcBef>
                  <a:spcPts val="0"/>
                </a:spcBef>
                <a:spcAft>
                  <a:spcPts val="0"/>
                </a:spcAft>
                <a:buNone/>
              </a:pPr>
              <a:r>
                <a:rPr b="0" i="0" lang="en-US" sz="3539" u="none" cap="none" strike="noStrike">
                  <a:solidFill>
                    <a:srgbClr val="2A3F54"/>
                  </a:solidFill>
                  <a:latin typeface="Helvetica Neue"/>
                  <a:ea typeface="Helvetica Neue"/>
                  <a:cs typeface="Helvetica Neue"/>
                  <a:sym typeface="Helvetica Neue"/>
                </a:rPr>
                <a:t>Budget-constrained students need simple ways to </a:t>
              </a:r>
              <a:r>
                <a:rPr b="1" i="0" lang="en-US" sz="3539" u="none" cap="none" strike="noStrike">
                  <a:solidFill>
                    <a:srgbClr val="2A3F54"/>
                  </a:solidFill>
                  <a:latin typeface="Helvetica Neue"/>
                  <a:ea typeface="Helvetica Neue"/>
                  <a:cs typeface="Helvetica Neue"/>
                  <a:sym typeface="Helvetica Neue"/>
                </a:rPr>
                <a:t>plan efficient grocery trips</a:t>
              </a:r>
              <a:r>
                <a:rPr b="0" i="0" lang="en-US" sz="3539" u="none" cap="none" strike="noStrike">
                  <a:solidFill>
                    <a:srgbClr val="2A3F54"/>
                  </a:solidFill>
                  <a:latin typeface="Helvetica Neue"/>
                  <a:ea typeface="Helvetica Neue"/>
                  <a:cs typeface="Helvetica Neue"/>
                  <a:sym typeface="Helvetica Neue"/>
                </a:rPr>
                <a:t> without increasing cognitive effort or time.</a:t>
              </a:r>
              <a:endParaRPr/>
            </a:p>
          </p:txBody>
        </p:sp>
      </p:grpSp>
      <p:pic>
        <p:nvPicPr>
          <p:cNvPr id="122" name="Google Shape;122;p16" title="board_v3.png"/>
          <p:cNvPicPr preferRelativeResize="0"/>
          <p:nvPr/>
        </p:nvPicPr>
        <p:blipFill>
          <a:blip r:embed="rId3">
            <a:alphaModFix/>
          </a:blip>
          <a:stretch>
            <a:fillRect/>
          </a:stretch>
        </p:blipFill>
        <p:spPr>
          <a:xfrm>
            <a:off x="8292525" y="505975"/>
            <a:ext cx="9455700" cy="9217999"/>
          </a:xfrm>
          <a:prstGeom prst="rect">
            <a:avLst/>
          </a:prstGeom>
          <a:noFill/>
          <a:ln>
            <a:noFill/>
          </a:ln>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7"/>
        </a:solidFill>
      </p:bgPr>
    </p:bg>
    <p:spTree>
      <p:nvGrpSpPr>
        <p:cNvPr id="126" name="Shape 126"/>
        <p:cNvGrpSpPr/>
        <p:nvPr/>
      </p:nvGrpSpPr>
      <p:grpSpPr>
        <a:xfrm>
          <a:off x="0" y="0"/>
          <a:ext cx="0" cy="0"/>
          <a:chOff x="0" y="0"/>
          <a:chExt cx="0" cy="0"/>
        </a:xfrm>
      </p:grpSpPr>
      <p:grpSp>
        <p:nvGrpSpPr>
          <p:cNvPr id="127" name="Google Shape;127;p17"/>
          <p:cNvGrpSpPr/>
          <p:nvPr/>
        </p:nvGrpSpPr>
        <p:grpSpPr>
          <a:xfrm>
            <a:off x="9296402" y="-8101220"/>
            <a:ext cx="16556612" cy="17734062"/>
            <a:chOff x="2" y="-1"/>
            <a:chExt cx="22075482" cy="23645415"/>
          </a:xfrm>
        </p:grpSpPr>
        <p:grpSp>
          <p:nvGrpSpPr>
            <p:cNvPr id="128" name="Google Shape;128;p17"/>
            <p:cNvGrpSpPr/>
            <p:nvPr/>
          </p:nvGrpSpPr>
          <p:grpSpPr>
            <a:xfrm rot="7458190">
              <a:off x="2445161" y="4620236"/>
              <a:ext cx="18147848" cy="13177120"/>
              <a:chOff x="0" y="-171450"/>
              <a:chExt cx="1476351" cy="1071976"/>
            </a:xfrm>
          </p:grpSpPr>
          <p:sp>
            <p:nvSpPr>
              <p:cNvPr id="129" name="Google Shape;129;p17"/>
              <p:cNvSpPr/>
              <p:nvPr/>
            </p:nvSpPr>
            <p:spPr>
              <a:xfrm>
                <a:off x="0" y="0"/>
                <a:ext cx="1476351" cy="900526"/>
              </a:xfrm>
              <a:custGeom>
                <a:rect b="b" l="l" r="r" t="t"/>
                <a:pathLst>
                  <a:path extrusionOk="0" h="900526" w="1476351">
                    <a:moveTo>
                      <a:pt x="0" y="0"/>
                    </a:moveTo>
                    <a:lnTo>
                      <a:pt x="1476351" y="0"/>
                    </a:lnTo>
                    <a:lnTo>
                      <a:pt x="1476351" y="900526"/>
                    </a:lnTo>
                    <a:lnTo>
                      <a:pt x="0" y="900526"/>
                    </a:lnTo>
                    <a:close/>
                  </a:path>
                </a:pathLst>
              </a:custGeom>
              <a:solidFill>
                <a:srgbClr val="2A3F54"/>
              </a:solidFill>
              <a:ln>
                <a:noFill/>
              </a:ln>
            </p:spPr>
          </p:sp>
          <p:sp>
            <p:nvSpPr>
              <p:cNvPr id="130" name="Google Shape;130;p17"/>
              <p:cNvSpPr txBox="1"/>
              <p:nvPr/>
            </p:nvSpPr>
            <p:spPr>
              <a:xfrm>
                <a:off x="0" y="-171450"/>
                <a:ext cx="1476351" cy="1071976"/>
              </a:xfrm>
              <a:prstGeom prst="rect">
                <a:avLst/>
              </a:prstGeom>
              <a:noFill/>
              <a:ln>
                <a:noFill/>
              </a:ln>
            </p:spPr>
            <p:txBody>
              <a:bodyPr anchorCtr="0" anchor="ctr" bIns="123325" lIns="123325" spcFirstLastPara="1" rIns="123325" wrap="square" tIns="123325">
                <a:noAutofit/>
              </a:bodyPr>
              <a:lstStyle/>
              <a:p>
                <a:pPr indent="0" lvl="0" marL="0" marR="0" rtl="0" algn="ctr">
                  <a:lnSpc>
                    <a:spcPct val="62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1" name="Google Shape;131;p17"/>
            <p:cNvSpPr/>
            <p:nvPr/>
          </p:nvSpPr>
          <p:spPr>
            <a:xfrm rot="5400000">
              <a:off x="-21" y="12575799"/>
              <a:ext cx="11069639" cy="11069592"/>
            </a:xfrm>
            <a:custGeom>
              <a:rect b="b" l="l" r="r" t="t"/>
              <a:pathLst>
                <a:path extrusionOk="0"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solidFill>
              <a:srgbClr val="2A3F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2" name="Google Shape;132;p17"/>
          <p:cNvSpPr/>
          <p:nvPr/>
        </p:nvSpPr>
        <p:spPr>
          <a:xfrm>
            <a:off x="10657085" y="2244598"/>
            <a:ext cx="5797804" cy="5797804"/>
          </a:xfrm>
          <a:custGeom>
            <a:rect b="b" l="l" r="r" t="t"/>
            <a:pathLst>
              <a:path extrusionOk="0" h="5797804" w="5797804">
                <a:moveTo>
                  <a:pt x="0" y="0"/>
                </a:moveTo>
                <a:lnTo>
                  <a:pt x="5797804" y="0"/>
                </a:lnTo>
                <a:lnTo>
                  <a:pt x="5797804" y="5797804"/>
                </a:lnTo>
                <a:lnTo>
                  <a:pt x="0" y="5797804"/>
                </a:lnTo>
                <a:lnTo>
                  <a:pt x="0" y="0"/>
                </a:lnTo>
                <a:close/>
              </a:path>
            </a:pathLst>
          </a:custGeom>
          <a:blipFill rotWithShape="1">
            <a:blip r:embed="rId3">
              <a:alphaModFix/>
            </a:blip>
            <a:stretch>
              <a:fillRect b="0" l="0" r="0" t="0"/>
            </a:stretch>
          </a:blipFill>
          <a:ln>
            <a:noFill/>
          </a:ln>
        </p:spPr>
      </p:sp>
      <p:grpSp>
        <p:nvGrpSpPr>
          <p:cNvPr id="133" name="Google Shape;133;p17"/>
          <p:cNvGrpSpPr/>
          <p:nvPr/>
        </p:nvGrpSpPr>
        <p:grpSpPr>
          <a:xfrm>
            <a:off x="666750" y="723900"/>
            <a:ext cx="7283700" cy="9161521"/>
            <a:chOff x="0" y="76200"/>
            <a:chExt cx="9711600" cy="12215363"/>
          </a:xfrm>
        </p:grpSpPr>
        <p:sp>
          <p:nvSpPr>
            <p:cNvPr id="134" name="Google Shape;134;p17"/>
            <p:cNvSpPr txBox="1"/>
            <p:nvPr/>
          </p:nvSpPr>
          <p:spPr>
            <a:xfrm>
              <a:off x="0" y="76200"/>
              <a:ext cx="9182100" cy="4163906"/>
            </a:xfrm>
            <a:prstGeom prst="rect">
              <a:avLst/>
            </a:prstGeom>
            <a:noFill/>
            <a:ln>
              <a:noFill/>
            </a:ln>
          </p:spPr>
          <p:txBody>
            <a:bodyPr anchorCtr="0" anchor="t" bIns="0" lIns="0" spcFirstLastPara="1" rIns="0" wrap="square" tIns="0">
              <a:spAutoFit/>
            </a:bodyPr>
            <a:lstStyle/>
            <a:p>
              <a:pPr indent="0" lvl="0" marL="0" marR="0" rtl="0" algn="l">
                <a:lnSpc>
                  <a:spcPct val="110001"/>
                </a:lnSpc>
                <a:spcBef>
                  <a:spcPts val="0"/>
                </a:spcBef>
                <a:spcAft>
                  <a:spcPts val="0"/>
                </a:spcAft>
                <a:buNone/>
              </a:pPr>
              <a:r>
                <a:rPr b="1" i="0" lang="en-US" sz="7399" u="none" cap="none" strike="noStrike">
                  <a:solidFill>
                    <a:srgbClr val="192F4D"/>
                  </a:solidFill>
                  <a:latin typeface="Arial"/>
                  <a:ea typeface="Arial"/>
                  <a:cs typeface="Arial"/>
                  <a:sym typeface="Arial"/>
                </a:rPr>
                <a:t>Three Concepts, One Product</a:t>
              </a:r>
              <a:endParaRPr/>
            </a:p>
          </p:txBody>
        </p:sp>
        <p:sp>
          <p:nvSpPr>
            <p:cNvPr id="135" name="Google Shape;135;p17"/>
            <p:cNvSpPr txBox="1"/>
            <p:nvPr/>
          </p:nvSpPr>
          <p:spPr>
            <a:xfrm>
              <a:off x="0" y="5032163"/>
              <a:ext cx="9711600" cy="72594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0" i="0" lang="en-US" sz="2899" u="none" cap="none" strike="noStrike">
                  <a:solidFill>
                    <a:srgbClr val="2A3F54"/>
                  </a:solidFill>
                  <a:latin typeface="Helvetica Neue"/>
                  <a:ea typeface="Helvetica Neue"/>
                  <a:cs typeface="Helvetica Neue"/>
                  <a:sym typeface="Helvetica Neue"/>
                </a:rPr>
                <a:t>Peer critique pushed us to combine, not pick. </a:t>
              </a:r>
              <a:endParaRPr b="0" i="0" sz="2899" u="none" cap="none" strike="noStrike">
                <a:solidFill>
                  <a:srgbClr val="2A3F54"/>
                </a:solidFill>
                <a:latin typeface="Helvetica Neue"/>
                <a:ea typeface="Helvetica Neue"/>
                <a:cs typeface="Helvetica Neue"/>
                <a:sym typeface="Helvetica Neue"/>
              </a:endParaRPr>
            </a:p>
            <a:p>
              <a:pPr indent="-313054" lvl="1" marL="626107" marR="0" rtl="0" algn="l">
                <a:lnSpc>
                  <a:spcPct val="140013"/>
                </a:lnSpc>
                <a:spcBef>
                  <a:spcPts val="0"/>
                </a:spcBef>
                <a:spcAft>
                  <a:spcPts val="0"/>
                </a:spcAft>
                <a:buClr>
                  <a:srgbClr val="2A3F54"/>
                </a:buClr>
                <a:buSzPts val="2899"/>
                <a:buFont typeface="Arial"/>
                <a:buChar char="•"/>
              </a:pPr>
              <a:r>
                <a:rPr b="0" i="0" lang="en-US" sz="2899" u="none" cap="none" strike="noStrike">
                  <a:solidFill>
                    <a:srgbClr val="2A3F54"/>
                  </a:solidFill>
                  <a:latin typeface="Helvetica Neue"/>
                  <a:ea typeface="Helvetica Neue"/>
                  <a:cs typeface="Helvetica Neue"/>
                  <a:sym typeface="Helvetica Neue"/>
                </a:rPr>
                <a:t>Price comparison needed roommate sharing. </a:t>
              </a:r>
              <a:endParaRPr/>
            </a:p>
            <a:p>
              <a:pPr indent="-313054" lvl="1" marL="626107" marR="0" rtl="0" algn="l">
                <a:lnSpc>
                  <a:spcPct val="140013"/>
                </a:lnSpc>
                <a:spcBef>
                  <a:spcPts val="0"/>
                </a:spcBef>
                <a:spcAft>
                  <a:spcPts val="0"/>
                </a:spcAft>
                <a:buClr>
                  <a:srgbClr val="2A3F54"/>
                </a:buClr>
                <a:buSzPts val="2899"/>
                <a:buFont typeface="Arial"/>
                <a:buChar char="•"/>
              </a:pPr>
              <a:r>
                <a:rPr b="0" i="0" lang="en-US" sz="2899" u="none" cap="none" strike="noStrike">
                  <a:solidFill>
                    <a:srgbClr val="2A3F54"/>
                  </a:solidFill>
                  <a:latin typeface="Helvetica Neue"/>
                  <a:ea typeface="Helvetica Neue"/>
                  <a:cs typeface="Helvetica Neue"/>
                  <a:sym typeface="Helvetica Neue"/>
                </a:rPr>
                <a:t>Meal planning needed pantry awareness. </a:t>
              </a:r>
              <a:endParaRPr/>
            </a:p>
            <a:p>
              <a:pPr indent="-313055" lvl="1" marL="626107" marR="0" rtl="0" algn="l">
                <a:lnSpc>
                  <a:spcPct val="140013"/>
                </a:lnSpc>
                <a:spcBef>
                  <a:spcPts val="0"/>
                </a:spcBef>
                <a:spcAft>
                  <a:spcPts val="0"/>
                </a:spcAft>
                <a:buClr>
                  <a:srgbClr val="2A3F54"/>
                </a:buClr>
                <a:buSzPts val="2899"/>
                <a:buFont typeface="Arial"/>
                <a:buChar char="•"/>
              </a:pPr>
              <a:r>
                <a:rPr b="0" i="0" lang="en-US" sz="2899" u="none" cap="none" strike="noStrike">
                  <a:solidFill>
                    <a:srgbClr val="2A3F54"/>
                  </a:solidFill>
                  <a:latin typeface="Helvetica Neue"/>
                  <a:ea typeface="Helvetica Neue"/>
                  <a:cs typeface="Helvetica Neue"/>
                  <a:sym typeface="Helvetica Neue"/>
                </a:rPr>
                <a:t>Collaboration needed budget tracking.</a:t>
              </a:r>
              <a:endParaRPr b="0" i="0" sz="2899" u="none" cap="none" strike="noStrike">
                <a:solidFill>
                  <a:srgbClr val="2A3F54"/>
                </a:solidFill>
                <a:latin typeface="Helvetica Neue"/>
                <a:ea typeface="Helvetica Neue"/>
                <a:cs typeface="Helvetica Neue"/>
                <a:sym typeface="Helvetica Neue"/>
              </a:endParaRPr>
            </a:p>
            <a:p>
              <a:pPr indent="0" lvl="0" marL="0" marR="0" rtl="0" algn="l">
                <a:lnSpc>
                  <a:spcPct val="140013"/>
                </a:lnSpc>
                <a:spcBef>
                  <a:spcPts val="0"/>
                </a:spcBef>
                <a:spcAft>
                  <a:spcPts val="0"/>
                </a:spcAft>
                <a:buNone/>
              </a:pPr>
              <a:r>
                <a:rPr b="0" i="0" lang="en-US" sz="2899" u="none" cap="none" strike="noStrike">
                  <a:solidFill>
                    <a:srgbClr val="2A3F54"/>
                  </a:solidFill>
                  <a:latin typeface="Helvetica Neue"/>
                  <a:ea typeface="Helvetica Neue"/>
                  <a:cs typeface="Helvetica Neue"/>
                  <a:sym typeface="Helvetica Neue"/>
                </a:rPr>
                <a:t>They weren't competing — they were three angles on the same problem.</a:t>
              </a:r>
              <a:endParaRPr/>
            </a:p>
          </p:txBody>
        </p:sp>
      </p:gr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7"/>
        </a:solidFill>
      </p:bgPr>
    </p:bg>
    <p:spTree>
      <p:nvGrpSpPr>
        <p:cNvPr id="139" name="Shape 139"/>
        <p:cNvGrpSpPr/>
        <p:nvPr/>
      </p:nvGrpSpPr>
      <p:grpSpPr>
        <a:xfrm>
          <a:off x="0" y="0"/>
          <a:ext cx="0" cy="0"/>
          <a:chOff x="0" y="0"/>
          <a:chExt cx="0" cy="0"/>
        </a:xfrm>
      </p:grpSpPr>
      <p:cxnSp>
        <p:nvCxnSpPr>
          <p:cNvPr id="140" name="Google Shape;140;p18"/>
          <p:cNvCxnSpPr/>
          <p:nvPr/>
        </p:nvCxnSpPr>
        <p:spPr>
          <a:xfrm>
            <a:off x="-263025" y="5309175"/>
            <a:ext cx="19939500" cy="31500"/>
          </a:xfrm>
          <a:prstGeom prst="straightConnector1">
            <a:avLst/>
          </a:prstGeom>
          <a:noFill/>
          <a:ln cap="flat" cmpd="sng" w="19050">
            <a:solidFill>
              <a:srgbClr val="5A8DDE"/>
            </a:solidFill>
            <a:prstDash val="solid"/>
            <a:round/>
            <a:headEnd len="sm" w="sm" type="none"/>
            <a:tailEnd len="sm" w="sm" type="none"/>
          </a:ln>
        </p:spPr>
      </p:cxnSp>
      <p:sp>
        <p:nvSpPr>
          <p:cNvPr id="141" name="Google Shape;141;p18"/>
          <p:cNvSpPr/>
          <p:nvPr/>
        </p:nvSpPr>
        <p:spPr>
          <a:xfrm>
            <a:off x="13074350" y="5188381"/>
            <a:ext cx="317500" cy="317500"/>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A3F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8"/>
          <p:cNvSpPr txBox="1"/>
          <p:nvPr/>
        </p:nvSpPr>
        <p:spPr>
          <a:xfrm>
            <a:off x="666750" y="742950"/>
            <a:ext cx="15821025" cy="1077595"/>
          </a:xfrm>
          <a:prstGeom prst="rect">
            <a:avLst/>
          </a:prstGeom>
          <a:noFill/>
          <a:ln>
            <a:noFill/>
          </a:ln>
        </p:spPr>
        <p:txBody>
          <a:bodyPr anchorCtr="0" anchor="t" bIns="0" lIns="0" spcFirstLastPara="1" rIns="0" wrap="square" tIns="0">
            <a:spAutoFit/>
          </a:bodyPr>
          <a:lstStyle/>
          <a:p>
            <a:pPr indent="0" lvl="0" marL="0" marR="0" rtl="0" algn="l">
              <a:lnSpc>
                <a:spcPct val="110001"/>
              </a:lnSpc>
              <a:spcBef>
                <a:spcPts val="0"/>
              </a:spcBef>
              <a:spcAft>
                <a:spcPts val="0"/>
              </a:spcAft>
              <a:buNone/>
            </a:pPr>
            <a:r>
              <a:rPr b="1" i="0" lang="en-US" sz="7599" u="none" cap="none" strike="noStrike">
                <a:solidFill>
                  <a:srgbClr val="192F4D"/>
                </a:solidFill>
                <a:latin typeface="Arial"/>
                <a:ea typeface="Arial"/>
                <a:cs typeface="Arial"/>
                <a:sym typeface="Arial"/>
              </a:rPr>
              <a:t>Design Evolution</a:t>
            </a:r>
            <a:endParaRPr/>
          </a:p>
        </p:txBody>
      </p:sp>
      <p:sp>
        <p:nvSpPr>
          <p:cNvPr id="143" name="Google Shape;143;p18"/>
          <p:cNvSpPr txBox="1"/>
          <p:nvPr/>
        </p:nvSpPr>
        <p:spPr>
          <a:xfrm>
            <a:off x="434675" y="2718550"/>
            <a:ext cx="3310800" cy="430800"/>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1" i="0" lang="en-US" sz="2799" u="none" cap="none" strike="noStrike">
                <a:solidFill>
                  <a:srgbClr val="192F4D"/>
                </a:solidFill>
                <a:latin typeface="Helvetica Neue"/>
                <a:ea typeface="Helvetica Neue"/>
                <a:cs typeface="Helvetica Neue"/>
                <a:sym typeface="Helvetica Neue"/>
              </a:rPr>
              <a:t>Sketch + Critique</a:t>
            </a:r>
            <a:endParaRPr/>
          </a:p>
        </p:txBody>
      </p:sp>
      <p:sp>
        <p:nvSpPr>
          <p:cNvPr id="144" name="Google Shape;144;p18"/>
          <p:cNvSpPr txBox="1"/>
          <p:nvPr/>
        </p:nvSpPr>
        <p:spPr>
          <a:xfrm>
            <a:off x="892475" y="3309013"/>
            <a:ext cx="3819300" cy="18405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300">
                <a:solidFill>
                  <a:srgbClr val="2A3F54"/>
                </a:solidFill>
                <a:latin typeface="Helvetica Neue"/>
                <a:ea typeface="Helvetica Neue"/>
                <a:cs typeface="Helvetica Neue"/>
                <a:sym typeface="Helvetica Neue"/>
              </a:rPr>
              <a:t>C</a:t>
            </a:r>
            <a:r>
              <a:rPr b="0" i="0" lang="en-US" sz="2300" u="none" cap="none" strike="noStrike">
                <a:solidFill>
                  <a:srgbClr val="2A3F54"/>
                </a:solidFill>
                <a:latin typeface="Helvetica Neue"/>
                <a:ea typeface="Helvetica Neue"/>
                <a:cs typeface="Helvetica Neue"/>
                <a:sym typeface="Helvetica Neue"/>
              </a:rPr>
              <a:t>oncept sketches converged into one. </a:t>
            </a:r>
            <a:r>
              <a:rPr lang="en-US" sz="2300">
                <a:solidFill>
                  <a:srgbClr val="2A3F54"/>
                </a:solidFill>
                <a:latin typeface="Helvetica Neue"/>
                <a:ea typeface="Helvetica Neue"/>
                <a:cs typeface="Helvetica Neue"/>
                <a:sym typeface="Helvetica Neue"/>
              </a:rPr>
              <a:t>E</a:t>
            </a:r>
            <a:r>
              <a:rPr b="0" i="0" lang="en-US" sz="2300" u="none" cap="none" strike="noStrike">
                <a:solidFill>
                  <a:srgbClr val="2A3F54"/>
                </a:solidFill>
                <a:latin typeface="Helvetica Neue"/>
                <a:ea typeface="Helvetica Neue"/>
                <a:cs typeface="Helvetica Neue"/>
                <a:sym typeface="Helvetica Neue"/>
              </a:rPr>
              <a:t>ach addressed </a:t>
            </a:r>
            <a:r>
              <a:rPr lang="en-US" sz="2300">
                <a:solidFill>
                  <a:srgbClr val="2A3F54"/>
                </a:solidFill>
                <a:latin typeface="Helvetica Neue"/>
                <a:ea typeface="Helvetica Neue"/>
                <a:cs typeface="Helvetica Neue"/>
                <a:sym typeface="Helvetica Neue"/>
              </a:rPr>
              <a:t>part of the</a:t>
            </a:r>
            <a:r>
              <a:rPr b="0" i="0" lang="en-US" sz="2300" u="none" cap="none" strike="noStrike">
                <a:solidFill>
                  <a:srgbClr val="2A3F54"/>
                </a:solidFill>
                <a:latin typeface="Helvetica Neue"/>
                <a:ea typeface="Helvetica Neue"/>
                <a:cs typeface="Helvetica Neue"/>
                <a:sym typeface="Helvetica Neue"/>
              </a:rPr>
              <a:t> cognitive-load problem</a:t>
            </a:r>
            <a:r>
              <a:rPr lang="en-US" sz="2300">
                <a:solidFill>
                  <a:srgbClr val="2A3F54"/>
                </a:solidFill>
                <a:latin typeface="Helvetica Neue"/>
                <a:ea typeface="Helvetica Neue"/>
                <a:cs typeface="Helvetica Neue"/>
                <a:sym typeface="Helvetica Neue"/>
              </a:rPr>
              <a:t>.</a:t>
            </a:r>
            <a:endParaRPr sz="1300"/>
          </a:p>
        </p:txBody>
      </p:sp>
      <p:sp>
        <p:nvSpPr>
          <p:cNvPr id="145" name="Google Shape;145;p18"/>
          <p:cNvSpPr txBox="1"/>
          <p:nvPr/>
        </p:nvSpPr>
        <p:spPr>
          <a:xfrm>
            <a:off x="6352950" y="7922775"/>
            <a:ext cx="5582100" cy="430800"/>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1" i="0" lang="en-US" sz="2799" u="none" cap="none" strike="noStrike">
                <a:solidFill>
                  <a:srgbClr val="192F4D"/>
                </a:solidFill>
                <a:latin typeface="Helvetica Neue"/>
                <a:ea typeface="Helvetica Neue"/>
                <a:cs typeface="Helvetica Neue"/>
                <a:sym typeface="Helvetica Neue"/>
              </a:rPr>
              <a:t>Storyboard + Paper Prot</a:t>
            </a:r>
            <a:r>
              <a:rPr b="1" lang="en-US" sz="2799">
                <a:solidFill>
                  <a:srgbClr val="192F4D"/>
                </a:solidFill>
                <a:latin typeface="Helvetica Neue"/>
                <a:ea typeface="Helvetica Neue"/>
                <a:cs typeface="Helvetica Neue"/>
                <a:sym typeface="Helvetica Neue"/>
              </a:rPr>
              <a:t>o</a:t>
            </a:r>
            <a:endParaRPr/>
          </a:p>
        </p:txBody>
      </p:sp>
      <p:sp>
        <p:nvSpPr>
          <p:cNvPr id="146" name="Google Shape;146;p18"/>
          <p:cNvSpPr txBox="1"/>
          <p:nvPr/>
        </p:nvSpPr>
        <p:spPr>
          <a:xfrm>
            <a:off x="6622100" y="5835250"/>
            <a:ext cx="4486800" cy="18405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0" i="0" lang="en-US" sz="2300" u="none" cap="none" strike="noStrike">
                <a:solidFill>
                  <a:srgbClr val="2A3F54"/>
                </a:solidFill>
                <a:latin typeface="Helvetica Neue"/>
                <a:ea typeface="Helvetica Neue"/>
                <a:cs typeface="Helvetica Neue"/>
                <a:sym typeface="Helvetica Neue"/>
              </a:rPr>
              <a:t>User testing showed the meal-selection flow worked, but the generate-list step caused hesitation.</a:t>
            </a:r>
            <a:endParaRPr sz="1300"/>
          </a:p>
        </p:txBody>
      </p:sp>
      <p:sp>
        <p:nvSpPr>
          <p:cNvPr id="147" name="Google Shape;147;p18"/>
          <p:cNvSpPr txBox="1"/>
          <p:nvPr/>
        </p:nvSpPr>
        <p:spPr>
          <a:xfrm>
            <a:off x="13218625" y="2163175"/>
            <a:ext cx="4302900" cy="430800"/>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1" i="0" lang="en-US" sz="2799" u="none" cap="none" strike="noStrike">
                <a:solidFill>
                  <a:srgbClr val="192F4D"/>
                </a:solidFill>
                <a:latin typeface="Helvetica Neue"/>
                <a:ea typeface="Helvetica Neue"/>
                <a:cs typeface="Helvetica Neue"/>
                <a:sym typeface="Helvetica Neue"/>
              </a:rPr>
              <a:t>Wireframes → Hi-Fi</a:t>
            </a:r>
            <a:endParaRPr/>
          </a:p>
        </p:txBody>
      </p:sp>
      <p:sp>
        <p:nvSpPr>
          <p:cNvPr id="148" name="Google Shape;148;p18"/>
          <p:cNvSpPr txBox="1"/>
          <p:nvPr/>
        </p:nvSpPr>
        <p:spPr>
          <a:xfrm>
            <a:off x="13476725" y="2810650"/>
            <a:ext cx="4044900" cy="19296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0" i="0" lang="en-US" sz="1900" u="none" cap="none" strike="noStrike">
                <a:solidFill>
                  <a:srgbClr val="2A3F54"/>
                </a:solidFill>
                <a:latin typeface="Helvetica Neue"/>
                <a:ea typeface="Helvetica Neue"/>
                <a:cs typeface="Helvetica Neue"/>
                <a:sym typeface="Helvetica Neue"/>
              </a:rPr>
              <a:t>Locked in a four-item bottom nav: Home</a:t>
            </a:r>
            <a:r>
              <a:rPr lang="en-US" sz="1900">
                <a:solidFill>
                  <a:srgbClr val="2A3F54"/>
                </a:solidFill>
                <a:latin typeface="Helvetica Neue"/>
                <a:ea typeface="Helvetica Neue"/>
                <a:cs typeface="Helvetica Neue"/>
                <a:sym typeface="Helvetica Neue"/>
              </a:rPr>
              <a:t>, </a:t>
            </a:r>
            <a:r>
              <a:rPr b="0" i="0" lang="en-US" sz="1900" u="none" cap="none" strike="noStrike">
                <a:solidFill>
                  <a:srgbClr val="2A3F54"/>
                </a:solidFill>
                <a:latin typeface="Helvetica Neue"/>
                <a:ea typeface="Helvetica Neue"/>
                <a:cs typeface="Helvetica Neue"/>
                <a:sym typeface="Helvetica Neue"/>
              </a:rPr>
              <a:t>Lists</a:t>
            </a:r>
            <a:r>
              <a:rPr lang="en-US" sz="1900">
                <a:solidFill>
                  <a:srgbClr val="2A3F54"/>
                </a:solidFill>
                <a:latin typeface="Helvetica Neue"/>
                <a:ea typeface="Helvetica Neue"/>
                <a:cs typeface="Helvetica Neue"/>
                <a:sym typeface="Helvetica Neue"/>
              </a:rPr>
              <a:t>,</a:t>
            </a:r>
            <a:r>
              <a:rPr b="0" i="0" lang="en-US" sz="1900" u="none" cap="none" strike="noStrike">
                <a:solidFill>
                  <a:srgbClr val="2A3F54"/>
                </a:solidFill>
                <a:latin typeface="Helvetica Neue"/>
                <a:ea typeface="Helvetica Neue"/>
                <a:cs typeface="Helvetica Neue"/>
                <a:sym typeface="Helvetica Neue"/>
              </a:rPr>
              <a:t> Dashboard</a:t>
            </a:r>
            <a:r>
              <a:rPr lang="en-US" sz="1900">
                <a:solidFill>
                  <a:srgbClr val="2A3F54"/>
                </a:solidFill>
                <a:latin typeface="Helvetica Neue"/>
                <a:ea typeface="Helvetica Neue"/>
                <a:cs typeface="Helvetica Neue"/>
                <a:sym typeface="Helvetica Neue"/>
              </a:rPr>
              <a:t>, </a:t>
            </a:r>
            <a:r>
              <a:rPr b="0" i="0" lang="en-US" sz="1900" u="none" cap="none" strike="noStrike">
                <a:solidFill>
                  <a:srgbClr val="2A3F54"/>
                </a:solidFill>
                <a:latin typeface="Helvetica Neue"/>
                <a:ea typeface="Helvetica Neue"/>
                <a:cs typeface="Helvetica Neue"/>
                <a:sym typeface="Helvetica Neue"/>
              </a:rPr>
              <a:t>Groups to reduce cognitive load. Visual hierarchy and accent color signal in-budget status.</a:t>
            </a:r>
            <a:endParaRPr sz="900"/>
          </a:p>
        </p:txBody>
      </p:sp>
      <p:cxnSp>
        <p:nvCxnSpPr>
          <p:cNvPr id="149" name="Google Shape;149;p18"/>
          <p:cNvCxnSpPr/>
          <p:nvPr/>
        </p:nvCxnSpPr>
        <p:spPr>
          <a:xfrm flipH="1" rot="10800000">
            <a:off x="572475" y="3235300"/>
            <a:ext cx="14100" cy="2104800"/>
          </a:xfrm>
          <a:prstGeom prst="straightConnector1">
            <a:avLst/>
          </a:prstGeom>
          <a:noFill/>
          <a:ln cap="flat" cmpd="sng" w="19050">
            <a:solidFill>
              <a:srgbClr val="5A8DDE"/>
            </a:solidFill>
            <a:prstDash val="solid"/>
            <a:round/>
            <a:headEnd len="sm" w="sm" type="none"/>
            <a:tailEnd len="sm" w="sm" type="none"/>
          </a:ln>
        </p:spPr>
      </p:cxnSp>
      <p:sp>
        <p:nvSpPr>
          <p:cNvPr id="150" name="Google Shape;150;p18"/>
          <p:cNvSpPr/>
          <p:nvPr/>
        </p:nvSpPr>
        <p:spPr>
          <a:xfrm>
            <a:off x="434675" y="5166181"/>
            <a:ext cx="317500" cy="317500"/>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A3F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1" name="Google Shape;151;p18" title="Screenshot 2026-05-03 at 2.43.57 PM.png"/>
          <p:cNvPicPr preferRelativeResize="0"/>
          <p:nvPr/>
        </p:nvPicPr>
        <p:blipFill>
          <a:blip r:embed="rId3">
            <a:alphaModFix/>
          </a:blip>
          <a:stretch>
            <a:fillRect/>
          </a:stretch>
        </p:blipFill>
        <p:spPr>
          <a:xfrm>
            <a:off x="239825" y="5719600"/>
            <a:ext cx="2241500" cy="1748050"/>
          </a:xfrm>
          <a:prstGeom prst="rect">
            <a:avLst/>
          </a:prstGeom>
          <a:noFill/>
          <a:ln>
            <a:noFill/>
          </a:ln>
        </p:spPr>
      </p:pic>
      <p:pic>
        <p:nvPicPr>
          <p:cNvPr id="152" name="Google Shape;152;p18"/>
          <p:cNvPicPr preferRelativeResize="0"/>
          <p:nvPr/>
        </p:nvPicPr>
        <p:blipFill>
          <a:blip r:embed="rId4">
            <a:alphaModFix/>
          </a:blip>
          <a:stretch>
            <a:fillRect/>
          </a:stretch>
        </p:blipFill>
        <p:spPr>
          <a:xfrm>
            <a:off x="572463" y="7366924"/>
            <a:ext cx="3718219" cy="2104800"/>
          </a:xfrm>
          <a:prstGeom prst="rect">
            <a:avLst/>
          </a:prstGeom>
          <a:noFill/>
          <a:ln>
            <a:noFill/>
          </a:ln>
        </p:spPr>
      </p:pic>
      <p:cxnSp>
        <p:nvCxnSpPr>
          <p:cNvPr id="153" name="Google Shape;153;p18"/>
          <p:cNvCxnSpPr/>
          <p:nvPr/>
        </p:nvCxnSpPr>
        <p:spPr>
          <a:xfrm>
            <a:off x="6372275" y="5416875"/>
            <a:ext cx="17700" cy="2429700"/>
          </a:xfrm>
          <a:prstGeom prst="straightConnector1">
            <a:avLst/>
          </a:prstGeom>
          <a:noFill/>
          <a:ln cap="flat" cmpd="sng" w="19050">
            <a:solidFill>
              <a:srgbClr val="5A8DDE"/>
            </a:solidFill>
            <a:prstDash val="solid"/>
            <a:round/>
            <a:headEnd len="sm" w="sm" type="none"/>
            <a:tailEnd len="sm" w="sm" type="none"/>
          </a:ln>
        </p:spPr>
      </p:cxnSp>
      <p:sp>
        <p:nvSpPr>
          <p:cNvPr id="154" name="Google Shape;154;p18"/>
          <p:cNvSpPr/>
          <p:nvPr/>
        </p:nvSpPr>
        <p:spPr>
          <a:xfrm>
            <a:off x="6206625" y="5191556"/>
            <a:ext cx="317500" cy="317500"/>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A3F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5" name="Google Shape;155;p18" title="a7_adlt-storyboard-1.png"/>
          <p:cNvPicPr preferRelativeResize="0"/>
          <p:nvPr/>
        </p:nvPicPr>
        <p:blipFill>
          <a:blip r:embed="rId5">
            <a:alphaModFix/>
          </a:blip>
          <a:stretch>
            <a:fillRect/>
          </a:stretch>
        </p:blipFill>
        <p:spPr>
          <a:xfrm>
            <a:off x="6589151" y="2101485"/>
            <a:ext cx="3718198" cy="2874491"/>
          </a:xfrm>
          <a:prstGeom prst="rect">
            <a:avLst/>
          </a:prstGeom>
          <a:noFill/>
          <a:ln>
            <a:noFill/>
          </a:ln>
        </p:spPr>
      </p:pic>
      <p:cxnSp>
        <p:nvCxnSpPr>
          <p:cNvPr id="156" name="Google Shape;156;p18"/>
          <p:cNvCxnSpPr/>
          <p:nvPr/>
        </p:nvCxnSpPr>
        <p:spPr>
          <a:xfrm>
            <a:off x="13218625" y="2810650"/>
            <a:ext cx="14400" cy="2380800"/>
          </a:xfrm>
          <a:prstGeom prst="straightConnector1">
            <a:avLst/>
          </a:prstGeom>
          <a:noFill/>
          <a:ln cap="flat" cmpd="sng" w="19050">
            <a:solidFill>
              <a:srgbClr val="5A8DDE"/>
            </a:solidFill>
            <a:prstDash val="solid"/>
            <a:round/>
            <a:headEnd len="sm" w="sm" type="none"/>
            <a:tailEnd len="sm" w="sm" type="none"/>
          </a:ln>
        </p:spPr>
      </p:cxnSp>
      <p:sp>
        <p:nvSpPr>
          <p:cNvPr id="157" name="Google Shape;157;p18"/>
          <p:cNvSpPr/>
          <p:nvPr/>
        </p:nvSpPr>
        <p:spPr>
          <a:xfrm>
            <a:off x="13066575" y="5191556"/>
            <a:ext cx="317500" cy="317500"/>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A3F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8" name="Google Shape;158;p18" title="Dashboard.png"/>
          <p:cNvPicPr preferRelativeResize="0"/>
          <p:nvPr/>
        </p:nvPicPr>
        <p:blipFill>
          <a:blip r:embed="rId6">
            <a:alphaModFix/>
          </a:blip>
          <a:stretch>
            <a:fillRect/>
          </a:stretch>
        </p:blipFill>
        <p:spPr>
          <a:xfrm>
            <a:off x="14127450" y="5569400"/>
            <a:ext cx="2128250" cy="4578350"/>
          </a:xfrm>
          <a:prstGeom prst="rect">
            <a:avLst/>
          </a:prstGeom>
          <a:noFill/>
          <a:ln>
            <a:noFill/>
          </a:ln>
        </p:spPr>
      </p:pic>
      <p:pic>
        <p:nvPicPr>
          <p:cNvPr id="159" name="Google Shape;159;p18" title="Screenshot 2026-05-03 at 3.00.51 PM.png"/>
          <p:cNvPicPr preferRelativeResize="0"/>
          <p:nvPr/>
        </p:nvPicPr>
        <p:blipFill>
          <a:blip r:embed="rId7">
            <a:alphaModFix/>
          </a:blip>
          <a:stretch>
            <a:fillRect/>
          </a:stretch>
        </p:blipFill>
        <p:spPr>
          <a:xfrm>
            <a:off x="2185050" y="6006075"/>
            <a:ext cx="3096361" cy="1840500"/>
          </a:xfrm>
          <a:prstGeom prst="rect">
            <a:avLst/>
          </a:prstGeom>
          <a:noFill/>
          <a:ln>
            <a:noFill/>
          </a:ln>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7"/>
        </a:solidFill>
      </p:bgPr>
    </p:bg>
    <p:spTree>
      <p:nvGrpSpPr>
        <p:cNvPr id="163" name="Shape 163"/>
        <p:cNvGrpSpPr/>
        <p:nvPr/>
      </p:nvGrpSpPr>
      <p:grpSpPr>
        <a:xfrm>
          <a:off x="0" y="0"/>
          <a:ext cx="0" cy="0"/>
          <a:chOff x="0" y="0"/>
          <a:chExt cx="0" cy="0"/>
        </a:xfrm>
      </p:grpSpPr>
      <p:sp>
        <p:nvSpPr>
          <p:cNvPr id="164" name="Google Shape;164;p19"/>
          <p:cNvSpPr/>
          <p:nvPr/>
        </p:nvSpPr>
        <p:spPr>
          <a:xfrm>
            <a:off x="3670774" y="540039"/>
            <a:ext cx="3940502" cy="2639481"/>
          </a:xfrm>
          <a:custGeom>
            <a:rect b="b" l="l" r="r" t="t"/>
            <a:pathLst>
              <a:path extrusionOk="0" h="764663" w="1141571">
                <a:moveTo>
                  <a:pt x="68765" y="0"/>
                </a:moveTo>
                <a:lnTo>
                  <a:pt x="1072807" y="0"/>
                </a:lnTo>
                <a:cubicBezTo>
                  <a:pt x="1091044" y="0"/>
                  <a:pt x="1108535" y="7245"/>
                  <a:pt x="1121431" y="20141"/>
                </a:cubicBezTo>
                <a:cubicBezTo>
                  <a:pt x="1134327" y="33037"/>
                  <a:pt x="1141571" y="50527"/>
                  <a:pt x="1141571" y="68765"/>
                </a:cubicBezTo>
                <a:lnTo>
                  <a:pt x="1141571" y="695898"/>
                </a:lnTo>
                <a:cubicBezTo>
                  <a:pt x="1141571" y="714136"/>
                  <a:pt x="1134327" y="731626"/>
                  <a:pt x="1121431" y="744522"/>
                </a:cubicBezTo>
                <a:cubicBezTo>
                  <a:pt x="1108535" y="757418"/>
                  <a:pt x="1091044" y="764663"/>
                  <a:pt x="1072807" y="764663"/>
                </a:cubicBezTo>
                <a:lnTo>
                  <a:pt x="68765" y="764663"/>
                </a:lnTo>
                <a:cubicBezTo>
                  <a:pt x="50527" y="764663"/>
                  <a:pt x="33037" y="757418"/>
                  <a:pt x="20141" y="744522"/>
                </a:cubicBezTo>
                <a:cubicBezTo>
                  <a:pt x="7245" y="731626"/>
                  <a:pt x="0" y="714136"/>
                  <a:pt x="0" y="695898"/>
                </a:cubicBezTo>
                <a:lnTo>
                  <a:pt x="0" y="68765"/>
                </a:lnTo>
                <a:cubicBezTo>
                  <a:pt x="0" y="50527"/>
                  <a:pt x="7245" y="33037"/>
                  <a:pt x="20141" y="20141"/>
                </a:cubicBezTo>
                <a:cubicBezTo>
                  <a:pt x="33037" y="7245"/>
                  <a:pt x="50527" y="0"/>
                  <a:pt x="68765" y="0"/>
                </a:cubicBezTo>
                <a:close/>
              </a:path>
            </a:pathLst>
          </a:custGeom>
          <a:blipFill rotWithShape="1">
            <a:blip r:embed="rId3">
              <a:alphaModFix/>
            </a:blip>
            <a:stretch>
              <a:fillRect b="-182852" l="-3632" r="-4925" t="-65677"/>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9"/>
          <p:cNvSpPr/>
          <p:nvPr/>
        </p:nvSpPr>
        <p:spPr>
          <a:xfrm>
            <a:off x="7910792" y="540039"/>
            <a:ext cx="3940502" cy="2639481"/>
          </a:xfrm>
          <a:custGeom>
            <a:rect b="b" l="l" r="r" t="t"/>
            <a:pathLst>
              <a:path extrusionOk="0" h="764663" w="1141571">
                <a:moveTo>
                  <a:pt x="68765" y="0"/>
                </a:moveTo>
                <a:lnTo>
                  <a:pt x="1072807" y="0"/>
                </a:lnTo>
                <a:cubicBezTo>
                  <a:pt x="1091044" y="0"/>
                  <a:pt x="1108535" y="7245"/>
                  <a:pt x="1121431" y="20141"/>
                </a:cubicBezTo>
                <a:cubicBezTo>
                  <a:pt x="1134327" y="33037"/>
                  <a:pt x="1141571" y="50527"/>
                  <a:pt x="1141571" y="68765"/>
                </a:cubicBezTo>
                <a:lnTo>
                  <a:pt x="1141571" y="695898"/>
                </a:lnTo>
                <a:cubicBezTo>
                  <a:pt x="1141571" y="714136"/>
                  <a:pt x="1134327" y="731626"/>
                  <a:pt x="1121431" y="744522"/>
                </a:cubicBezTo>
                <a:cubicBezTo>
                  <a:pt x="1108535" y="757418"/>
                  <a:pt x="1091044" y="764663"/>
                  <a:pt x="1072807" y="764663"/>
                </a:cubicBezTo>
                <a:lnTo>
                  <a:pt x="68765" y="764663"/>
                </a:lnTo>
                <a:cubicBezTo>
                  <a:pt x="50527" y="764663"/>
                  <a:pt x="33037" y="757418"/>
                  <a:pt x="20141" y="744522"/>
                </a:cubicBezTo>
                <a:cubicBezTo>
                  <a:pt x="7245" y="731626"/>
                  <a:pt x="0" y="714136"/>
                  <a:pt x="0" y="695898"/>
                </a:cubicBezTo>
                <a:lnTo>
                  <a:pt x="0" y="68765"/>
                </a:lnTo>
                <a:cubicBezTo>
                  <a:pt x="0" y="50527"/>
                  <a:pt x="7245" y="33037"/>
                  <a:pt x="20141" y="20141"/>
                </a:cubicBezTo>
                <a:cubicBezTo>
                  <a:pt x="33037" y="7245"/>
                  <a:pt x="50527" y="0"/>
                  <a:pt x="68765" y="0"/>
                </a:cubicBezTo>
                <a:close/>
              </a:path>
            </a:pathLst>
          </a:custGeom>
          <a:blipFill rotWithShape="1">
            <a:blip r:embed="rId4">
              <a:alphaModFix/>
            </a:blip>
            <a:stretch>
              <a:fillRect b="-205116" l="-3228" r="-4087" t="-39426"/>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9"/>
          <p:cNvSpPr/>
          <p:nvPr/>
        </p:nvSpPr>
        <p:spPr>
          <a:xfrm>
            <a:off x="12150809" y="540039"/>
            <a:ext cx="3940502" cy="2639481"/>
          </a:xfrm>
          <a:custGeom>
            <a:rect b="b" l="l" r="r" t="t"/>
            <a:pathLst>
              <a:path extrusionOk="0" h="764663" w="1141571">
                <a:moveTo>
                  <a:pt x="68765" y="0"/>
                </a:moveTo>
                <a:lnTo>
                  <a:pt x="1072807" y="0"/>
                </a:lnTo>
                <a:cubicBezTo>
                  <a:pt x="1091044" y="0"/>
                  <a:pt x="1108535" y="7245"/>
                  <a:pt x="1121431" y="20141"/>
                </a:cubicBezTo>
                <a:cubicBezTo>
                  <a:pt x="1134327" y="33037"/>
                  <a:pt x="1141571" y="50527"/>
                  <a:pt x="1141571" y="68765"/>
                </a:cubicBezTo>
                <a:lnTo>
                  <a:pt x="1141571" y="695898"/>
                </a:lnTo>
                <a:cubicBezTo>
                  <a:pt x="1141571" y="714136"/>
                  <a:pt x="1134327" y="731626"/>
                  <a:pt x="1121431" y="744522"/>
                </a:cubicBezTo>
                <a:cubicBezTo>
                  <a:pt x="1108535" y="757418"/>
                  <a:pt x="1091044" y="764663"/>
                  <a:pt x="1072807" y="764663"/>
                </a:cubicBezTo>
                <a:lnTo>
                  <a:pt x="68765" y="764663"/>
                </a:lnTo>
                <a:cubicBezTo>
                  <a:pt x="50527" y="764663"/>
                  <a:pt x="33037" y="757418"/>
                  <a:pt x="20141" y="744522"/>
                </a:cubicBezTo>
                <a:cubicBezTo>
                  <a:pt x="7245" y="731626"/>
                  <a:pt x="0" y="714136"/>
                  <a:pt x="0" y="695898"/>
                </a:cubicBezTo>
                <a:lnTo>
                  <a:pt x="0" y="68765"/>
                </a:lnTo>
                <a:cubicBezTo>
                  <a:pt x="0" y="50527"/>
                  <a:pt x="7245" y="33037"/>
                  <a:pt x="20141" y="20141"/>
                </a:cubicBezTo>
                <a:cubicBezTo>
                  <a:pt x="33037" y="7245"/>
                  <a:pt x="50527" y="0"/>
                  <a:pt x="68765" y="0"/>
                </a:cubicBezTo>
                <a:close/>
              </a:path>
            </a:pathLst>
          </a:custGeom>
          <a:blipFill rotWithShape="1">
            <a:blip r:embed="rId5">
              <a:alphaModFix/>
            </a:blip>
            <a:stretch>
              <a:fillRect b="-126792" l="-12132" r="-6860" t="-155238"/>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9"/>
          <p:cNvSpPr/>
          <p:nvPr/>
        </p:nvSpPr>
        <p:spPr>
          <a:xfrm>
            <a:off x="3670774" y="5136824"/>
            <a:ext cx="3940502" cy="2639481"/>
          </a:xfrm>
          <a:custGeom>
            <a:rect b="b" l="l" r="r" t="t"/>
            <a:pathLst>
              <a:path extrusionOk="0" h="764663" w="1141571">
                <a:moveTo>
                  <a:pt x="68765" y="0"/>
                </a:moveTo>
                <a:lnTo>
                  <a:pt x="1072807" y="0"/>
                </a:lnTo>
                <a:cubicBezTo>
                  <a:pt x="1091044" y="0"/>
                  <a:pt x="1108535" y="7245"/>
                  <a:pt x="1121431" y="20141"/>
                </a:cubicBezTo>
                <a:cubicBezTo>
                  <a:pt x="1134327" y="33037"/>
                  <a:pt x="1141571" y="50527"/>
                  <a:pt x="1141571" y="68765"/>
                </a:cubicBezTo>
                <a:lnTo>
                  <a:pt x="1141571" y="695898"/>
                </a:lnTo>
                <a:cubicBezTo>
                  <a:pt x="1141571" y="714136"/>
                  <a:pt x="1134327" y="731626"/>
                  <a:pt x="1121431" y="744522"/>
                </a:cubicBezTo>
                <a:cubicBezTo>
                  <a:pt x="1108535" y="757418"/>
                  <a:pt x="1091044" y="764663"/>
                  <a:pt x="1072807" y="764663"/>
                </a:cubicBezTo>
                <a:lnTo>
                  <a:pt x="68765" y="764663"/>
                </a:lnTo>
                <a:cubicBezTo>
                  <a:pt x="50527" y="764663"/>
                  <a:pt x="33037" y="757418"/>
                  <a:pt x="20141" y="744522"/>
                </a:cubicBezTo>
                <a:cubicBezTo>
                  <a:pt x="7245" y="731626"/>
                  <a:pt x="0" y="714136"/>
                  <a:pt x="0" y="695898"/>
                </a:cubicBezTo>
                <a:lnTo>
                  <a:pt x="0" y="68765"/>
                </a:lnTo>
                <a:cubicBezTo>
                  <a:pt x="0" y="50527"/>
                  <a:pt x="7245" y="33037"/>
                  <a:pt x="20141" y="20141"/>
                </a:cubicBezTo>
                <a:cubicBezTo>
                  <a:pt x="33037" y="7245"/>
                  <a:pt x="50527" y="0"/>
                  <a:pt x="68765" y="0"/>
                </a:cubicBezTo>
                <a:close/>
              </a:path>
            </a:pathLst>
          </a:custGeom>
          <a:blipFill rotWithShape="1">
            <a:blip r:embed="rId6">
              <a:alphaModFix/>
            </a:blip>
            <a:stretch>
              <a:fillRect b="-160536" l="-1210" r="-7308" t="-87872"/>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9"/>
          <p:cNvSpPr/>
          <p:nvPr/>
        </p:nvSpPr>
        <p:spPr>
          <a:xfrm>
            <a:off x="7910792" y="5136824"/>
            <a:ext cx="3940502" cy="2639481"/>
          </a:xfrm>
          <a:custGeom>
            <a:rect b="b" l="l" r="r" t="t"/>
            <a:pathLst>
              <a:path extrusionOk="0" h="764663" w="1141571">
                <a:moveTo>
                  <a:pt x="68765" y="0"/>
                </a:moveTo>
                <a:lnTo>
                  <a:pt x="1072807" y="0"/>
                </a:lnTo>
                <a:cubicBezTo>
                  <a:pt x="1091044" y="0"/>
                  <a:pt x="1108535" y="7245"/>
                  <a:pt x="1121431" y="20141"/>
                </a:cubicBezTo>
                <a:cubicBezTo>
                  <a:pt x="1134327" y="33037"/>
                  <a:pt x="1141571" y="50527"/>
                  <a:pt x="1141571" y="68765"/>
                </a:cubicBezTo>
                <a:lnTo>
                  <a:pt x="1141571" y="695898"/>
                </a:lnTo>
                <a:cubicBezTo>
                  <a:pt x="1141571" y="714136"/>
                  <a:pt x="1134327" y="731626"/>
                  <a:pt x="1121431" y="744522"/>
                </a:cubicBezTo>
                <a:cubicBezTo>
                  <a:pt x="1108535" y="757418"/>
                  <a:pt x="1091044" y="764663"/>
                  <a:pt x="1072807" y="764663"/>
                </a:cubicBezTo>
                <a:lnTo>
                  <a:pt x="68765" y="764663"/>
                </a:lnTo>
                <a:cubicBezTo>
                  <a:pt x="50527" y="764663"/>
                  <a:pt x="33037" y="757418"/>
                  <a:pt x="20141" y="744522"/>
                </a:cubicBezTo>
                <a:cubicBezTo>
                  <a:pt x="7245" y="731626"/>
                  <a:pt x="0" y="714136"/>
                  <a:pt x="0" y="695898"/>
                </a:cubicBezTo>
                <a:lnTo>
                  <a:pt x="0" y="68765"/>
                </a:lnTo>
                <a:cubicBezTo>
                  <a:pt x="0" y="50527"/>
                  <a:pt x="7245" y="33037"/>
                  <a:pt x="20141" y="20141"/>
                </a:cubicBezTo>
                <a:cubicBezTo>
                  <a:pt x="33037" y="7245"/>
                  <a:pt x="50527" y="0"/>
                  <a:pt x="68765" y="0"/>
                </a:cubicBezTo>
                <a:close/>
              </a:path>
            </a:pathLst>
          </a:custGeom>
          <a:blipFill rotWithShape="1">
            <a:blip r:embed="rId7">
              <a:alphaModFix/>
            </a:blip>
            <a:stretch>
              <a:fillRect b="-190060" l="0" r="-1478" t="-35748"/>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9"/>
          <p:cNvSpPr/>
          <p:nvPr/>
        </p:nvSpPr>
        <p:spPr>
          <a:xfrm>
            <a:off x="12300567" y="5092379"/>
            <a:ext cx="3940502" cy="2639481"/>
          </a:xfrm>
          <a:custGeom>
            <a:rect b="b" l="l" r="r" t="t"/>
            <a:pathLst>
              <a:path extrusionOk="0" h="764663" w="1141571">
                <a:moveTo>
                  <a:pt x="68765" y="0"/>
                </a:moveTo>
                <a:lnTo>
                  <a:pt x="1072807" y="0"/>
                </a:lnTo>
                <a:cubicBezTo>
                  <a:pt x="1091044" y="0"/>
                  <a:pt x="1108535" y="7245"/>
                  <a:pt x="1121431" y="20141"/>
                </a:cubicBezTo>
                <a:cubicBezTo>
                  <a:pt x="1134327" y="33037"/>
                  <a:pt x="1141571" y="50527"/>
                  <a:pt x="1141571" y="68765"/>
                </a:cubicBezTo>
                <a:lnTo>
                  <a:pt x="1141571" y="695898"/>
                </a:lnTo>
                <a:cubicBezTo>
                  <a:pt x="1141571" y="714136"/>
                  <a:pt x="1134327" y="731626"/>
                  <a:pt x="1121431" y="744522"/>
                </a:cubicBezTo>
                <a:cubicBezTo>
                  <a:pt x="1108535" y="757418"/>
                  <a:pt x="1091044" y="764663"/>
                  <a:pt x="1072807" y="764663"/>
                </a:cubicBezTo>
                <a:lnTo>
                  <a:pt x="68765" y="764663"/>
                </a:lnTo>
                <a:cubicBezTo>
                  <a:pt x="50527" y="764663"/>
                  <a:pt x="33037" y="757418"/>
                  <a:pt x="20141" y="744522"/>
                </a:cubicBezTo>
                <a:cubicBezTo>
                  <a:pt x="7245" y="731626"/>
                  <a:pt x="0" y="714136"/>
                  <a:pt x="0" y="695898"/>
                </a:cubicBezTo>
                <a:lnTo>
                  <a:pt x="0" y="68765"/>
                </a:lnTo>
                <a:cubicBezTo>
                  <a:pt x="0" y="50527"/>
                  <a:pt x="7245" y="33037"/>
                  <a:pt x="20141" y="20141"/>
                </a:cubicBezTo>
                <a:cubicBezTo>
                  <a:pt x="33037" y="7245"/>
                  <a:pt x="50527" y="0"/>
                  <a:pt x="68765" y="0"/>
                </a:cubicBezTo>
                <a:close/>
              </a:path>
            </a:pathLst>
          </a:custGeom>
          <a:blipFill rotWithShape="1">
            <a:blip r:embed="rId8">
              <a:alphaModFix/>
            </a:blip>
            <a:stretch>
              <a:fillRect b="-168368" l="-4576" r="-8878" t="-95891"/>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0" name="Google Shape;170;p19"/>
          <p:cNvGrpSpPr/>
          <p:nvPr/>
        </p:nvGrpSpPr>
        <p:grpSpPr>
          <a:xfrm>
            <a:off x="3670774" y="3338441"/>
            <a:ext cx="3940502" cy="1395767"/>
            <a:chOff x="0" y="-57150"/>
            <a:chExt cx="5254003" cy="1861023"/>
          </a:xfrm>
        </p:grpSpPr>
        <p:sp>
          <p:nvSpPr>
            <p:cNvPr id="171" name="Google Shape;171;p19"/>
            <p:cNvSpPr txBox="1"/>
            <p:nvPr/>
          </p:nvSpPr>
          <p:spPr>
            <a:xfrm>
              <a:off x="0" y="-57150"/>
              <a:ext cx="5254003" cy="564829"/>
            </a:xfrm>
            <a:prstGeom prst="rect">
              <a:avLst/>
            </a:prstGeom>
            <a:noFill/>
            <a:ln>
              <a:noFill/>
            </a:ln>
          </p:spPr>
          <p:txBody>
            <a:bodyPr anchorCtr="0" anchor="t" bIns="0" lIns="0" spcFirstLastPara="1" rIns="0" wrap="square" tIns="0">
              <a:spAutoFit/>
            </a:bodyPr>
            <a:lstStyle/>
            <a:p>
              <a:pPr indent="0" lvl="0" marL="0" marR="0" rtl="0" algn="ctr">
                <a:lnSpc>
                  <a:spcPct val="140034"/>
                </a:lnSpc>
                <a:spcBef>
                  <a:spcPts val="0"/>
                </a:spcBef>
                <a:spcAft>
                  <a:spcPts val="0"/>
                </a:spcAft>
                <a:buNone/>
              </a:pPr>
              <a:r>
                <a:rPr b="1" i="0" lang="en-US" sz="2328" u="none" cap="none" strike="noStrike">
                  <a:solidFill>
                    <a:srgbClr val="192F4D"/>
                  </a:solidFill>
                  <a:latin typeface="Helvetica Neue"/>
                  <a:ea typeface="Helvetica Neue"/>
                  <a:cs typeface="Helvetica Neue"/>
                  <a:sym typeface="Helvetica Neue"/>
                </a:rPr>
                <a:t>Grocery List</a:t>
              </a:r>
              <a:endParaRPr/>
            </a:p>
          </p:txBody>
        </p:sp>
        <p:sp>
          <p:nvSpPr>
            <p:cNvPr id="172" name="Google Shape;172;p19"/>
            <p:cNvSpPr txBox="1"/>
            <p:nvPr/>
          </p:nvSpPr>
          <p:spPr>
            <a:xfrm>
              <a:off x="0" y="727372"/>
              <a:ext cx="5254003" cy="1076501"/>
            </a:xfrm>
            <a:prstGeom prst="rect">
              <a:avLst/>
            </a:prstGeom>
            <a:noFill/>
            <a:ln>
              <a:noFill/>
            </a:ln>
          </p:spPr>
          <p:txBody>
            <a:bodyPr anchorCtr="0" anchor="t" bIns="0" lIns="0" spcFirstLastPara="1" rIns="0" wrap="square" tIns="0">
              <a:spAutoFit/>
            </a:bodyPr>
            <a:lstStyle/>
            <a:p>
              <a:pPr indent="0" lvl="0" marL="0" marR="0" rtl="0" algn="ctr">
                <a:lnSpc>
                  <a:spcPct val="140034"/>
                </a:lnSpc>
                <a:spcBef>
                  <a:spcPts val="0"/>
                </a:spcBef>
                <a:spcAft>
                  <a:spcPts val="0"/>
                </a:spcAft>
                <a:buNone/>
              </a:pPr>
              <a:r>
                <a:rPr b="0" i="0" lang="en-US" sz="2328" u="none" cap="none" strike="noStrike">
                  <a:solidFill>
                    <a:srgbClr val="2A3F54"/>
                  </a:solidFill>
                  <a:latin typeface="Helvetica Neue"/>
                  <a:ea typeface="Helvetica Neue"/>
                  <a:cs typeface="Helvetica Neue"/>
                  <a:sym typeface="Helvetica Neue"/>
                </a:rPr>
                <a:t>Build, store, and reuse weekly lists — auto-grouped by store.</a:t>
              </a:r>
              <a:endParaRPr/>
            </a:p>
          </p:txBody>
        </p:sp>
      </p:grpSp>
      <p:grpSp>
        <p:nvGrpSpPr>
          <p:cNvPr id="173" name="Google Shape;173;p19"/>
          <p:cNvGrpSpPr/>
          <p:nvPr/>
        </p:nvGrpSpPr>
        <p:grpSpPr>
          <a:xfrm>
            <a:off x="7910792" y="3338441"/>
            <a:ext cx="3940502" cy="1753938"/>
            <a:chOff x="0" y="-57150"/>
            <a:chExt cx="5254003" cy="2338584"/>
          </a:xfrm>
        </p:grpSpPr>
        <p:sp>
          <p:nvSpPr>
            <p:cNvPr id="174" name="Google Shape;174;p19"/>
            <p:cNvSpPr txBox="1"/>
            <p:nvPr/>
          </p:nvSpPr>
          <p:spPr>
            <a:xfrm>
              <a:off x="0" y="-57150"/>
              <a:ext cx="5254003" cy="564829"/>
            </a:xfrm>
            <a:prstGeom prst="rect">
              <a:avLst/>
            </a:prstGeom>
            <a:noFill/>
            <a:ln>
              <a:noFill/>
            </a:ln>
          </p:spPr>
          <p:txBody>
            <a:bodyPr anchorCtr="0" anchor="t" bIns="0" lIns="0" spcFirstLastPara="1" rIns="0" wrap="square" tIns="0">
              <a:spAutoFit/>
            </a:bodyPr>
            <a:lstStyle/>
            <a:p>
              <a:pPr indent="0" lvl="0" marL="0" marR="0" rtl="0" algn="ctr">
                <a:lnSpc>
                  <a:spcPct val="140034"/>
                </a:lnSpc>
                <a:spcBef>
                  <a:spcPts val="0"/>
                </a:spcBef>
                <a:spcAft>
                  <a:spcPts val="0"/>
                </a:spcAft>
                <a:buNone/>
              </a:pPr>
              <a:r>
                <a:rPr b="1" i="0" lang="en-US" sz="2328" u="none" cap="none" strike="noStrike">
                  <a:solidFill>
                    <a:srgbClr val="192F4D"/>
                  </a:solidFill>
                  <a:latin typeface="Helvetica Neue"/>
                  <a:ea typeface="Helvetica Neue"/>
                  <a:cs typeface="Helvetica Neue"/>
                  <a:sym typeface="Helvetica Neue"/>
                </a:rPr>
                <a:t>Budget Tracking</a:t>
              </a:r>
              <a:endParaRPr/>
            </a:p>
          </p:txBody>
        </p:sp>
        <p:sp>
          <p:nvSpPr>
            <p:cNvPr id="175" name="Google Shape;175;p19"/>
            <p:cNvSpPr txBox="1"/>
            <p:nvPr/>
          </p:nvSpPr>
          <p:spPr>
            <a:xfrm>
              <a:off x="0" y="727372"/>
              <a:ext cx="5254003" cy="155406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230" u="none" cap="none" strike="noStrike">
                  <a:solidFill>
                    <a:srgbClr val="2A3F54"/>
                  </a:solidFill>
                  <a:latin typeface="Helvetica Neue"/>
                  <a:ea typeface="Helvetica Neue"/>
                  <a:cs typeface="Helvetica Neue"/>
                  <a:sym typeface="Helvetica Neue"/>
                </a:rPr>
                <a:t>Full grocery total visible against the monthly budget at every step.</a:t>
              </a:r>
              <a:endParaRPr/>
            </a:p>
          </p:txBody>
        </p:sp>
      </p:grpSp>
      <p:grpSp>
        <p:nvGrpSpPr>
          <p:cNvPr id="176" name="Google Shape;176;p19"/>
          <p:cNvGrpSpPr/>
          <p:nvPr/>
        </p:nvGrpSpPr>
        <p:grpSpPr>
          <a:xfrm>
            <a:off x="12150809" y="3338441"/>
            <a:ext cx="3940502" cy="1700275"/>
            <a:chOff x="0" y="-57150"/>
            <a:chExt cx="5254003" cy="2267033"/>
          </a:xfrm>
        </p:grpSpPr>
        <p:sp>
          <p:nvSpPr>
            <p:cNvPr id="177" name="Google Shape;177;p19"/>
            <p:cNvSpPr txBox="1"/>
            <p:nvPr/>
          </p:nvSpPr>
          <p:spPr>
            <a:xfrm>
              <a:off x="0" y="-57150"/>
              <a:ext cx="5254003" cy="564829"/>
            </a:xfrm>
            <a:prstGeom prst="rect">
              <a:avLst/>
            </a:prstGeom>
            <a:noFill/>
            <a:ln>
              <a:noFill/>
            </a:ln>
          </p:spPr>
          <p:txBody>
            <a:bodyPr anchorCtr="0" anchor="t" bIns="0" lIns="0" spcFirstLastPara="1" rIns="0" wrap="square" tIns="0">
              <a:spAutoFit/>
            </a:bodyPr>
            <a:lstStyle/>
            <a:p>
              <a:pPr indent="0" lvl="0" marL="0" marR="0" rtl="0" algn="ctr">
                <a:lnSpc>
                  <a:spcPct val="140034"/>
                </a:lnSpc>
                <a:spcBef>
                  <a:spcPts val="0"/>
                </a:spcBef>
                <a:spcAft>
                  <a:spcPts val="0"/>
                </a:spcAft>
                <a:buNone/>
              </a:pPr>
              <a:r>
                <a:rPr b="1" i="0" lang="en-US" sz="2328" u="none" cap="none" strike="noStrike">
                  <a:solidFill>
                    <a:srgbClr val="192F4D"/>
                  </a:solidFill>
                  <a:latin typeface="Helvetica Neue"/>
                  <a:ea typeface="Helvetica Neue"/>
                  <a:cs typeface="Helvetica Neue"/>
                  <a:sym typeface="Helvetica Neue"/>
                </a:rPr>
                <a:t>Store Navigation</a:t>
              </a:r>
              <a:endParaRPr/>
            </a:p>
          </p:txBody>
        </p:sp>
        <p:sp>
          <p:nvSpPr>
            <p:cNvPr id="178" name="Google Shape;178;p19"/>
            <p:cNvSpPr txBox="1"/>
            <p:nvPr/>
          </p:nvSpPr>
          <p:spPr>
            <a:xfrm>
              <a:off x="0" y="746422"/>
              <a:ext cx="5254003" cy="1463461"/>
            </a:xfrm>
            <a:prstGeom prst="rect">
              <a:avLst/>
            </a:prstGeom>
            <a:noFill/>
            <a:ln>
              <a:noFill/>
            </a:ln>
          </p:spPr>
          <p:txBody>
            <a:bodyPr anchorCtr="0" anchor="t" bIns="0" lIns="0" spcFirstLastPara="1" rIns="0" wrap="square" tIns="0">
              <a:spAutoFit/>
            </a:bodyPr>
            <a:lstStyle/>
            <a:p>
              <a:pPr indent="0" lvl="0" marL="0" marR="0" rtl="0" algn="ctr">
                <a:lnSpc>
                  <a:spcPct val="140009"/>
                </a:lnSpc>
                <a:spcBef>
                  <a:spcPts val="0"/>
                </a:spcBef>
                <a:spcAft>
                  <a:spcPts val="0"/>
                </a:spcAft>
                <a:buNone/>
              </a:pPr>
              <a:r>
                <a:rPr b="0" i="0" lang="en-US" sz="2132" u="none" cap="none" strike="noStrike">
                  <a:solidFill>
                    <a:srgbClr val="2A3F54"/>
                  </a:solidFill>
                  <a:latin typeface="Helvetica Neue"/>
                  <a:ea typeface="Helvetica Neue"/>
                  <a:cs typeface="Helvetica Neue"/>
                  <a:sym typeface="Helvetica Neue"/>
                </a:rPr>
                <a:t>Multi-stop route across the cheapest store split — no manual comparison.</a:t>
              </a:r>
              <a:endParaRPr/>
            </a:p>
          </p:txBody>
        </p:sp>
      </p:grpSp>
      <p:grpSp>
        <p:nvGrpSpPr>
          <p:cNvPr id="179" name="Google Shape;179;p19"/>
          <p:cNvGrpSpPr/>
          <p:nvPr/>
        </p:nvGrpSpPr>
        <p:grpSpPr>
          <a:xfrm>
            <a:off x="3670774" y="7939360"/>
            <a:ext cx="3940502" cy="1807601"/>
            <a:chOff x="0" y="-57150"/>
            <a:chExt cx="5254003" cy="2410135"/>
          </a:xfrm>
        </p:grpSpPr>
        <p:sp>
          <p:nvSpPr>
            <p:cNvPr id="180" name="Google Shape;180;p19"/>
            <p:cNvSpPr txBox="1"/>
            <p:nvPr/>
          </p:nvSpPr>
          <p:spPr>
            <a:xfrm>
              <a:off x="0" y="-57150"/>
              <a:ext cx="5254003" cy="564829"/>
            </a:xfrm>
            <a:prstGeom prst="rect">
              <a:avLst/>
            </a:prstGeom>
            <a:noFill/>
            <a:ln>
              <a:noFill/>
            </a:ln>
          </p:spPr>
          <p:txBody>
            <a:bodyPr anchorCtr="0" anchor="t" bIns="0" lIns="0" spcFirstLastPara="1" rIns="0" wrap="square" tIns="0">
              <a:spAutoFit/>
            </a:bodyPr>
            <a:lstStyle/>
            <a:p>
              <a:pPr indent="0" lvl="0" marL="0" marR="0" rtl="0" algn="ctr">
                <a:lnSpc>
                  <a:spcPct val="140034"/>
                </a:lnSpc>
                <a:spcBef>
                  <a:spcPts val="0"/>
                </a:spcBef>
                <a:spcAft>
                  <a:spcPts val="0"/>
                </a:spcAft>
                <a:buNone/>
              </a:pPr>
              <a:r>
                <a:rPr b="1" i="0" lang="en-US" sz="2328" u="none" cap="none" strike="noStrike">
                  <a:solidFill>
                    <a:srgbClr val="192F4D"/>
                  </a:solidFill>
                  <a:latin typeface="Helvetica Neue"/>
                  <a:ea typeface="Helvetica Neue"/>
                  <a:cs typeface="Helvetica Neue"/>
                  <a:sym typeface="Helvetica Neue"/>
                </a:rPr>
                <a:t>Meal Planning</a:t>
              </a:r>
              <a:endParaRPr/>
            </a:p>
          </p:txBody>
        </p:sp>
        <p:sp>
          <p:nvSpPr>
            <p:cNvPr id="181" name="Google Shape;181;p19"/>
            <p:cNvSpPr txBox="1"/>
            <p:nvPr/>
          </p:nvSpPr>
          <p:spPr>
            <a:xfrm>
              <a:off x="0" y="727372"/>
              <a:ext cx="5254003" cy="1625613"/>
            </a:xfrm>
            <a:prstGeom prst="rect">
              <a:avLst/>
            </a:prstGeom>
            <a:noFill/>
            <a:ln>
              <a:noFill/>
            </a:ln>
          </p:spPr>
          <p:txBody>
            <a:bodyPr anchorCtr="0" anchor="t" bIns="0" lIns="0" spcFirstLastPara="1" rIns="0" wrap="square" tIns="0">
              <a:spAutoFit/>
            </a:bodyPr>
            <a:lstStyle/>
            <a:p>
              <a:pPr indent="0" lvl="0" marL="0" marR="0" rtl="0" algn="ctr">
                <a:lnSpc>
                  <a:spcPct val="140034"/>
                </a:lnSpc>
                <a:spcBef>
                  <a:spcPts val="0"/>
                </a:spcBef>
                <a:spcAft>
                  <a:spcPts val="0"/>
                </a:spcAft>
                <a:buNone/>
              </a:pPr>
              <a:r>
                <a:rPr b="0" i="0" lang="en-US" sz="2328" u="none" cap="none" strike="noStrike">
                  <a:solidFill>
                    <a:srgbClr val="2A3F54"/>
                  </a:solidFill>
                  <a:latin typeface="Helvetica Neue"/>
                  <a:ea typeface="Helvetica Neue"/>
                  <a:cs typeface="Helvetica Neue"/>
                  <a:sym typeface="Helvetica Neue"/>
                </a:rPr>
                <a:t>Plan meals from a budget; recipes auto-generate the grocery list.</a:t>
              </a:r>
              <a:endParaRPr/>
            </a:p>
          </p:txBody>
        </p:sp>
      </p:grpSp>
      <p:grpSp>
        <p:nvGrpSpPr>
          <p:cNvPr id="182" name="Google Shape;182;p19"/>
          <p:cNvGrpSpPr/>
          <p:nvPr/>
        </p:nvGrpSpPr>
        <p:grpSpPr>
          <a:xfrm>
            <a:off x="7910792" y="7939360"/>
            <a:ext cx="3940502" cy="1395767"/>
            <a:chOff x="0" y="-57150"/>
            <a:chExt cx="5254003" cy="1861023"/>
          </a:xfrm>
        </p:grpSpPr>
        <p:sp>
          <p:nvSpPr>
            <p:cNvPr id="183" name="Google Shape;183;p19"/>
            <p:cNvSpPr txBox="1"/>
            <p:nvPr/>
          </p:nvSpPr>
          <p:spPr>
            <a:xfrm>
              <a:off x="0" y="-57150"/>
              <a:ext cx="5254003" cy="564829"/>
            </a:xfrm>
            <a:prstGeom prst="rect">
              <a:avLst/>
            </a:prstGeom>
            <a:noFill/>
            <a:ln>
              <a:noFill/>
            </a:ln>
          </p:spPr>
          <p:txBody>
            <a:bodyPr anchorCtr="0" anchor="t" bIns="0" lIns="0" spcFirstLastPara="1" rIns="0" wrap="square" tIns="0">
              <a:spAutoFit/>
            </a:bodyPr>
            <a:lstStyle/>
            <a:p>
              <a:pPr indent="0" lvl="0" marL="0" marR="0" rtl="0" algn="ctr">
                <a:lnSpc>
                  <a:spcPct val="140034"/>
                </a:lnSpc>
                <a:spcBef>
                  <a:spcPts val="0"/>
                </a:spcBef>
                <a:spcAft>
                  <a:spcPts val="0"/>
                </a:spcAft>
                <a:buNone/>
              </a:pPr>
              <a:r>
                <a:rPr b="1" i="0" lang="en-US" sz="2328" u="none" cap="none" strike="noStrike">
                  <a:solidFill>
                    <a:srgbClr val="192F4D"/>
                  </a:solidFill>
                  <a:latin typeface="Helvetica Neue"/>
                  <a:ea typeface="Helvetica Neue"/>
                  <a:cs typeface="Helvetica Neue"/>
                  <a:sym typeface="Helvetica Neue"/>
                </a:rPr>
                <a:t>Recipe Integration</a:t>
              </a:r>
              <a:endParaRPr/>
            </a:p>
          </p:txBody>
        </p:sp>
        <p:sp>
          <p:nvSpPr>
            <p:cNvPr id="184" name="Google Shape;184;p19"/>
            <p:cNvSpPr txBox="1"/>
            <p:nvPr/>
          </p:nvSpPr>
          <p:spPr>
            <a:xfrm>
              <a:off x="0" y="727372"/>
              <a:ext cx="5254003" cy="1076501"/>
            </a:xfrm>
            <a:prstGeom prst="rect">
              <a:avLst/>
            </a:prstGeom>
            <a:noFill/>
            <a:ln>
              <a:noFill/>
            </a:ln>
          </p:spPr>
          <p:txBody>
            <a:bodyPr anchorCtr="0" anchor="t" bIns="0" lIns="0" spcFirstLastPara="1" rIns="0" wrap="square" tIns="0">
              <a:spAutoFit/>
            </a:bodyPr>
            <a:lstStyle/>
            <a:p>
              <a:pPr indent="0" lvl="0" marL="0" marR="0" rtl="0" algn="ctr">
                <a:lnSpc>
                  <a:spcPct val="140034"/>
                </a:lnSpc>
                <a:spcBef>
                  <a:spcPts val="0"/>
                </a:spcBef>
                <a:spcAft>
                  <a:spcPts val="0"/>
                </a:spcAft>
                <a:buNone/>
              </a:pPr>
              <a:r>
                <a:rPr b="0" i="0" lang="en-US" sz="2328" u="none" cap="none" strike="noStrike">
                  <a:solidFill>
                    <a:srgbClr val="2A3F54"/>
                  </a:solidFill>
                  <a:latin typeface="Helvetica Neue"/>
                  <a:ea typeface="Helvetica Neue"/>
                  <a:cs typeface="Helvetica Neue"/>
                  <a:sym typeface="Helvetica Neue"/>
                </a:rPr>
                <a:t>Paste any recipe; ingredients land in the optimized list.</a:t>
              </a:r>
              <a:endParaRPr/>
            </a:p>
          </p:txBody>
        </p:sp>
      </p:grpSp>
      <p:grpSp>
        <p:nvGrpSpPr>
          <p:cNvPr id="185" name="Google Shape;185;p19"/>
          <p:cNvGrpSpPr/>
          <p:nvPr/>
        </p:nvGrpSpPr>
        <p:grpSpPr>
          <a:xfrm>
            <a:off x="12150809" y="7939360"/>
            <a:ext cx="3940502" cy="1807601"/>
            <a:chOff x="0" y="-57150"/>
            <a:chExt cx="5254003" cy="2410135"/>
          </a:xfrm>
        </p:grpSpPr>
        <p:sp>
          <p:nvSpPr>
            <p:cNvPr id="186" name="Google Shape;186;p19"/>
            <p:cNvSpPr txBox="1"/>
            <p:nvPr/>
          </p:nvSpPr>
          <p:spPr>
            <a:xfrm>
              <a:off x="0" y="-57150"/>
              <a:ext cx="5254003" cy="564829"/>
            </a:xfrm>
            <a:prstGeom prst="rect">
              <a:avLst/>
            </a:prstGeom>
            <a:noFill/>
            <a:ln>
              <a:noFill/>
            </a:ln>
          </p:spPr>
          <p:txBody>
            <a:bodyPr anchorCtr="0" anchor="t" bIns="0" lIns="0" spcFirstLastPara="1" rIns="0" wrap="square" tIns="0">
              <a:spAutoFit/>
            </a:bodyPr>
            <a:lstStyle/>
            <a:p>
              <a:pPr indent="0" lvl="0" marL="0" marR="0" rtl="0" algn="ctr">
                <a:lnSpc>
                  <a:spcPct val="140034"/>
                </a:lnSpc>
                <a:spcBef>
                  <a:spcPts val="0"/>
                </a:spcBef>
                <a:spcAft>
                  <a:spcPts val="0"/>
                </a:spcAft>
                <a:buNone/>
              </a:pPr>
              <a:r>
                <a:rPr b="1" i="0" lang="en-US" sz="2328" u="none" cap="none" strike="noStrike">
                  <a:solidFill>
                    <a:srgbClr val="192F4D"/>
                  </a:solidFill>
                  <a:latin typeface="Helvetica Neue"/>
                  <a:ea typeface="Helvetica Neue"/>
                  <a:cs typeface="Helvetica Neue"/>
                  <a:sym typeface="Helvetica Neue"/>
                </a:rPr>
                <a:t>Roommate Coordination</a:t>
              </a:r>
              <a:endParaRPr/>
            </a:p>
          </p:txBody>
        </p:sp>
        <p:sp>
          <p:nvSpPr>
            <p:cNvPr id="187" name="Google Shape;187;p19"/>
            <p:cNvSpPr txBox="1"/>
            <p:nvPr/>
          </p:nvSpPr>
          <p:spPr>
            <a:xfrm>
              <a:off x="0" y="727372"/>
              <a:ext cx="5254003" cy="1625613"/>
            </a:xfrm>
            <a:prstGeom prst="rect">
              <a:avLst/>
            </a:prstGeom>
            <a:noFill/>
            <a:ln>
              <a:noFill/>
            </a:ln>
          </p:spPr>
          <p:txBody>
            <a:bodyPr anchorCtr="0" anchor="t" bIns="0" lIns="0" spcFirstLastPara="1" rIns="0" wrap="square" tIns="0">
              <a:spAutoFit/>
            </a:bodyPr>
            <a:lstStyle/>
            <a:p>
              <a:pPr indent="0" lvl="0" marL="0" marR="0" rtl="0" algn="ctr">
                <a:lnSpc>
                  <a:spcPct val="140034"/>
                </a:lnSpc>
                <a:spcBef>
                  <a:spcPts val="0"/>
                </a:spcBef>
                <a:spcAft>
                  <a:spcPts val="0"/>
                </a:spcAft>
                <a:buNone/>
              </a:pPr>
              <a:r>
                <a:rPr b="0" i="0" lang="en-US" sz="2328" u="none" cap="none" strike="noStrike">
                  <a:solidFill>
                    <a:srgbClr val="2A3F54"/>
                  </a:solidFill>
                  <a:latin typeface="Helvetica Neue"/>
                  <a:ea typeface="Helvetica Neue"/>
                  <a:cs typeface="Helvetica Neue"/>
                  <a:sym typeface="Helvetica Neue"/>
                </a:rPr>
                <a:t>Communicate with roommate within the app to avoid double-buying</a:t>
              </a:r>
              <a:endParaRPr/>
            </a:p>
          </p:txBody>
        </p:sp>
      </p:grpSp>
      <p:sp>
        <p:nvSpPr>
          <p:cNvPr id="188" name="Google Shape;188;p19"/>
          <p:cNvSpPr txBox="1"/>
          <p:nvPr/>
        </p:nvSpPr>
        <p:spPr>
          <a:xfrm rot="-5400000">
            <a:off x="-7102216" y="-157845"/>
            <a:ext cx="17623261" cy="1209028"/>
          </a:xfrm>
          <a:prstGeom prst="rect">
            <a:avLst/>
          </a:prstGeom>
          <a:noFill/>
          <a:ln>
            <a:noFill/>
          </a:ln>
        </p:spPr>
        <p:txBody>
          <a:bodyPr anchorCtr="0" anchor="t" bIns="0" lIns="0" spcFirstLastPara="1" rIns="0" wrap="square" tIns="0">
            <a:spAutoFit/>
          </a:bodyPr>
          <a:lstStyle/>
          <a:p>
            <a:pPr indent="0" lvl="0" marL="0" marR="0" rtl="0" algn="l">
              <a:lnSpc>
                <a:spcPct val="110005"/>
              </a:lnSpc>
              <a:spcBef>
                <a:spcPts val="0"/>
              </a:spcBef>
              <a:spcAft>
                <a:spcPts val="0"/>
              </a:spcAft>
              <a:buNone/>
            </a:pPr>
            <a:r>
              <a:rPr b="1" i="0" lang="en-US" sz="8465" u="none" cap="none" strike="noStrike">
                <a:solidFill>
                  <a:srgbClr val="192F4D"/>
                </a:solidFill>
                <a:latin typeface="Arial"/>
                <a:ea typeface="Arial"/>
                <a:cs typeface="Arial"/>
                <a:sym typeface="Arial"/>
              </a:rPr>
              <a:t>Features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7"/>
        </a:solidFill>
      </p:bgPr>
    </p:bg>
    <p:spTree>
      <p:nvGrpSpPr>
        <p:cNvPr id="192" name="Shape 192"/>
        <p:cNvGrpSpPr/>
        <p:nvPr/>
      </p:nvGrpSpPr>
      <p:grpSpPr>
        <a:xfrm>
          <a:off x="0" y="0"/>
          <a:ext cx="0" cy="0"/>
          <a:chOff x="0" y="0"/>
          <a:chExt cx="0" cy="0"/>
        </a:xfrm>
      </p:grpSpPr>
      <p:sp>
        <p:nvSpPr>
          <p:cNvPr id="193" name="Google Shape;193;p20">
            <a:hlinkClick r:id="rId3"/>
          </p:cNvPr>
          <p:cNvSpPr/>
          <p:nvPr/>
        </p:nvSpPr>
        <p:spPr>
          <a:xfrm>
            <a:off x="5715725" y="2542781"/>
            <a:ext cx="6856550" cy="6826077"/>
          </a:xfrm>
          <a:custGeom>
            <a:rect b="b" l="l" r="r" t="t"/>
            <a:pathLst>
              <a:path extrusionOk="0" h="6826077" w="6856550">
                <a:moveTo>
                  <a:pt x="0" y="0"/>
                </a:moveTo>
                <a:lnTo>
                  <a:pt x="6856550" y="0"/>
                </a:lnTo>
                <a:lnTo>
                  <a:pt x="6856550" y="6826076"/>
                </a:lnTo>
                <a:lnTo>
                  <a:pt x="0" y="6826076"/>
                </a:lnTo>
                <a:lnTo>
                  <a:pt x="0" y="0"/>
                </a:lnTo>
                <a:close/>
              </a:path>
            </a:pathLst>
          </a:custGeom>
          <a:blipFill rotWithShape="1">
            <a:blip r:embed="rId4">
              <a:alphaModFix/>
            </a:blip>
            <a:stretch>
              <a:fillRect b="0" l="0" r="0" t="0"/>
            </a:stretch>
          </a:blipFill>
          <a:ln>
            <a:noFill/>
          </a:ln>
        </p:spPr>
      </p:sp>
      <p:sp>
        <p:nvSpPr>
          <p:cNvPr id="194" name="Google Shape;194;p20"/>
          <p:cNvSpPr txBox="1"/>
          <p:nvPr/>
        </p:nvSpPr>
        <p:spPr>
          <a:xfrm>
            <a:off x="1028700" y="462286"/>
            <a:ext cx="17623261" cy="2386741"/>
          </a:xfrm>
          <a:prstGeom prst="rect">
            <a:avLst/>
          </a:prstGeom>
          <a:noFill/>
          <a:ln>
            <a:noFill/>
          </a:ln>
        </p:spPr>
        <p:txBody>
          <a:bodyPr anchorCtr="0" anchor="t" bIns="0" lIns="0" spcFirstLastPara="1" rIns="0" wrap="square" tIns="0">
            <a:spAutoFit/>
          </a:bodyPr>
          <a:lstStyle/>
          <a:p>
            <a:pPr indent="0" lvl="0" marL="0" marR="0" rtl="0" algn="l">
              <a:lnSpc>
                <a:spcPct val="110005"/>
              </a:lnSpc>
              <a:spcBef>
                <a:spcPts val="0"/>
              </a:spcBef>
              <a:spcAft>
                <a:spcPts val="0"/>
              </a:spcAft>
              <a:buNone/>
            </a:pPr>
            <a:r>
              <a:rPr b="1" i="0" lang="en-US" sz="8465" u="none" cap="none" strike="noStrike">
                <a:solidFill>
                  <a:srgbClr val="192F4D"/>
                </a:solidFill>
                <a:latin typeface="Arial"/>
                <a:ea typeface="Arial"/>
                <a:cs typeface="Arial"/>
                <a:sym typeface="Arial"/>
              </a:rPr>
              <a:t>Figma Prototype</a:t>
            </a:r>
            <a:endParaRPr/>
          </a:p>
          <a:p>
            <a:pPr indent="0" lvl="0" marL="0" marR="0" rtl="0" algn="l">
              <a:lnSpc>
                <a:spcPct val="110005"/>
              </a:lnSpc>
              <a:spcBef>
                <a:spcPts val="0"/>
              </a:spcBef>
              <a:spcAft>
                <a:spcPts val="0"/>
              </a:spcAft>
              <a:buNone/>
            </a:pPr>
            <a:r>
              <a:t/>
            </a:r>
            <a:endParaRPr b="1" i="0" sz="8465" u="none" cap="none" strike="noStrike">
              <a:solidFill>
                <a:srgbClr val="192F4D"/>
              </a:solidFill>
              <a:latin typeface="Arial"/>
              <a:ea typeface="Arial"/>
              <a:cs typeface="Arial"/>
              <a:sym typeface="Arial"/>
            </a:endParaRPr>
          </a:p>
        </p:txBody>
      </p:sp>
    </p:spTree>
  </p:cSld>
  <p:clrMapOvr>
    <a:masterClrMapping/>
  </p:clrMapOvr>
  <p:transition>
    <p:fade/>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